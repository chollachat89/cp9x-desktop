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image" Target="../media/image-4-3.png"/><Relationship Id="rId7" Type="http://schemas.openxmlformats.org/officeDocument/2006/relationships/image" Target="../media/image-4-3.png"/><Relationship Id="rId8" Type="http://schemas.openxmlformats.org/officeDocument/2006/relationships/image" Target="../media/image-4-3.png"/><Relationship Id="rId9" Type="http://schemas.openxmlformats.org/officeDocument/2006/relationships/image" Target="../media/image-4-3.png"/><Relationship Id="rId10" Type="http://schemas.openxmlformats.org/officeDocument/2006/relationships/image" Target="../media/image-4-3.png"/><Relationship Id="rId11" Type="http://schemas.openxmlformats.org/officeDocument/2006/relationships/image" Target="../media/image-4-3.png"/><Relationship Id="rId12" Type="http://schemas.openxmlformats.org/officeDocument/2006/relationships/image" Target="../media/image-4-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1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tmp/cp9x_deck/icon_user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7955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 ·  CP9X-PM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คู่มือการใช้งานแยกตามบทบาท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ฝั่งผู้รับเหมา/ช่าง และฝั่งแอดมิน อย่างละเอียด ทั้งสองโปรแกรม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0" name="Image 1" descr="/tmp/cp9x_deck/icon_folderope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44462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ผู้รับเหมา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46120" y="43434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3" name="Image 2" descr="/tmp/cp9x_deck/icon_monito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990" y="44462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13048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แอดมิน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943600" y="434340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6" name="Image 3" descr="/tmp/cp9x_deck/icon_phon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70" y="44462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0528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ช่าง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641080" y="43434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9" name="Image 4" descr="/tmp/cp9x_deck/icon_pi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950" y="4446270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08008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แอดมิน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อ้างอิงจากสิทธิ์การเข้าถึงจริงในโค้ด (role-based access) ของทั้งสองระบบ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บทบาท ใน 2 โปรแกรม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6" name="Image 0" descr="/tmp/cp9x_deck/icon_folderope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47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ผู้รับเหมา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08760" y="22037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มุมมองจำกัด 2 เมนู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ตารางวางบิล (เฉพาะของตัวเอง) และฟอร์มวางบิล — ไม่เห็นเมนูเปิด/ปิดงาน หรือรายงานใดๆ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1691640"/>
            <a:ext cx="82296" cy="2103120"/>
          </a:xfrm>
          <a:prstGeom prst="roundRect">
            <a:avLst/>
          </a:prstGeom>
          <a:ln/>
        </p:spPr>
      </p:sp>
      <p:sp>
        <p:nvSpPr>
          <p:cNvPr id="11" name="Shape 8"/>
          <p:cNvSpPr/>
          <p:nvPr/>
        </p:nvSpPr>
        <p:spPr>
          <a:xfrm>
            <a:off x="626364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tmp/cp9x_deck/icon_moni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0866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947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แอดมิน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223760" y="22037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เข้าถึงทุกเมนู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537960" y="2743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เปิดงาน ปิดงาน พักงาน วางบิลเต็มรูปแบบ ตรวจงานผู้รับเหมา รายงาน และซิงค์ข้อมูล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63640" y="1691640"/>
            <a:ext cx="82296" cy="2103120"/>
          </a:xfrm>
          <a:prstGeom prst="roundRect">
            <a:avLst/>
          </a:prstGeom>
          <a:ln/>
        </p:spPr>
      </p:sp>
      <p:sp>
        <p:nvSpPr>
          <p:cNvPr id="18" name="Shape 14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2" descr="/tmp/cp9x_deck/icon_pho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3726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4233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ช่าง (แอปมือถือ)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508760" y="44897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บุควันเข้าทำงาน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22960" y="5029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ดูปฏิทิน/รายการงานของตัวเอง บุคหรือแก้ไขวันเข้าทำ จนกว่าแอดมินจะยืนยันงาน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3977640"/>
            <a:ext cx="82296" cy="2103120"/>
          </a:xfrm>
          <a:prstGeom prst="roundRect">
            <a:avLst/>
          </a:prstGeom>
          <a:ln/>
        </p:spPr>
      </p:sp>
      <p:sp>
        <p:nvSpPr>
          <p:cNvPr id="25" name="Shape 20"/>
          <p:cNvSpPr/>
          <p:nvPr/>
        </p:nvSpPr>
        <p:spPr>
          <a:xfrm>
            <a:off x="626364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26" name="Shape 21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tmp/cp9x_deck/icon_pi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437266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4233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แอดมิน (ระบบติดตาม PM)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223760" y="44897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อนุมัติงาน 2 ขั้น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6537960" y="5029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ยืนยันงาน + ยืนยันรูป จัดการสัญญา ทะเบียนสาขา นำเข้าข้อมูล และตั้งค่าระบบ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263640" y="3977640"/>
            <a:ext cx="82296" cy="2103120"/>
          </a:xfrm>
          <a:prstGeom prst="roundRect">
            <a:avLst/>
          </a:prstGeom>
          <a:ln/>
        </p:spPr>
      </p:sp>
      <p:sp>
        <p:nvSpPr>
          <p:cNvPr id="32" name="Text 2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tmp/cp9x_deck/icon_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289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CP9X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บัญชีเดียวกัน ระบบเดียวกัน — แต่เห็นเมนูไม่เท่ากันตามบทบาท (role)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5720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ผู้รับเหมา: สิทธิ์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95728" y="457200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1" name="Text 8"/>
          <p:cNvSpPr/>
          <p:nvPr/>
        </p:nvSpPr>
        <p:spPr>
          <a:xfrm>
            <a:off x="2395728" y="45720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ตารางวางบิล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68496" y="457200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3" name="Text 10"/>
          <p:cNvSpPr/>
          <p:nvPr/>
        </p:nvSpPr>
        <p:spPr>
          <a:xfrm>
            <a:off x="3968496" y="45720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ฟอร์มวางบิล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41264" y="457200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5" name="Text 12"/>
          <p:cNvSpPr/>
          <p:nvPr/>
        </p:nvSpPr>
        <p:spPr>
          <a:xfrm>
            <a:off x="5541264" y="45720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แอดมิน: สิทธิ์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114032" y="457200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7" name="Text 14"/>
          <p:cNvSpPr/>
          <p:nvPr/>
        </p:nvSpPr>
        <p:spPr>
          <a:xfrm>
            <a:off x="7114032" y="45720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เปิด/ปิด/พักงาน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686800" y="457200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45720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วางบิล+ตรวจงาน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0259568" y="457200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21" name="Text 18"/>
          <p:cNvSpPr/>
          <p:nvPr/>
        </p:nvSpPr>
        <p:spPr>
          <a:xfrm>
            <a:off x="10259568" y="45720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รายงาน+ซิงค์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สิทธิ์การเข้าถึงของผู้รับเหมา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ฝั่งผู้รับเหมา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เข้าสู่ระบบด้วยบัญชีที่ผูกกับผู้รับเหมา — ระบบจะซ่อนเมนูที่เหลือให้อัตโนมัติ เหลือเพียง 2 เมนูเท่านั้น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E9F6EE"/>
          </a:solidFill>
          <a:ln w="19050">
            <a:solidFill>
              <a:srgbClr val="2FA6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2FA65A"/>
          </a:solidFill>
          <a:ln/>
        </p:spPr>
      </p:sp>
      <p:pic>
        <p:nvPicPr>
          <p:cNvPr id="9" name="Image 0" descr="/tmp/cp9x_deck/icon_billfor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5438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450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ตารางวางบิล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54480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มุมมองจำกัดเฉพาะงานของตัวเอง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มองเห็น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21945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E9F6EE"/>
          </a:solidFill>
          <a:ln w="19050">
            <a:solidFill>
              <a:srgbClr val="2FA6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2423160"/>
            <a:ext cx="548640" cy="548640"/>
          </a:xfrm>
          <a:prstGeom prst="ellipse">
            <a:avLst/>
          </a:prstGeom>
          <a:solidFill>
            <a:srgbClr val="2FA65A"/>
          </a:solidFill>
          <a:ln/>
        </p:spPr>
      </p:sp>
      <p:pic>
        <p:nvPicPr>
          <p:cNvPr id="15" name="Image 1" descr="/tmp/cp9x_deck/icon_uplo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54386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450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ฟอร์มวางบิล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03520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โหลด/อัปโหลดฟอร์มกลับ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มองเห็น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เมนูที่ถูกซ่อน (มองไม่เห็นเลยในฝั่งผู้รับเหมา)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389120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21" name="Image 2" descr="/tmp/cp9x_deck/icon_eyeoff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3085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0120" y="4389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เปิดงาน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779776" y="4389120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24" name="Image 3" descr="/tmp/cp9x_deck/icon_eyeoff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4" y="453085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191256" y="4389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ปิดงาน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010912" y="4389120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27" name="Image 4" descr="/tmp/cp9x_deck/icon_eyeoff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53085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22392" y="4389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พักงาน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242048" y="4389120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30" name="Image 5" descr="/tmp/cp9x_deck/icon_eyeoff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453085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653528" y="4389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ใบเสนอราคา PM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9473184" y="4389120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33" name="Image 6" descr="/tmp/cp9x_deck/icon_eyeoff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912" y="4530852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884664" y="4389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ตรวจสอบเปิดงาน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548640" y="5020056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36" name="Image 7" descr="/tmp/cp9x_deck/icon_eyeoff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5161788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60120" y="5020056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ตรวจสอบปิดงาน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2779776" y="5020056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39" name="Image 8" descr="/tmp/cp9x_deck/icon_eyeoff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9504" y="5161788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191256" y="5020056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รายงานสถานะดำเนินการ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5010912" y="5020056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42" name="Image 9" descr="/tmp/cp9x_deck/icon_eyeoff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5161788"/>
            <a:ext cx="219456" cy="21945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422392" y="5020056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ไฟล์ผู้รับเหมาส่งกลับ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7242048" y="5020056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45" name="Image 10" descr="/tmp/cp9x_deck/icon_eyeoff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1776" y="5161788"/>
            <a:ext cx="219456" cy="219456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653528" y="5020056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งานที่เสร็จสิ้น</a:t>
            </a:r>
            <a:endParaRPr lang="en-US" sz="1050" dirty="0"/>
          </a:p>
        </p:txBody>
      </p:sp>
      <p:sp>
        <p:nvSpPr>
          <p:cNvPr id="47" name="Shape 34"/>
          <p:cNvSpPr/>
          <p:nvPr/>
        </p:nvSpPr>
        <p:spPr>
          <a:xfrm>
            <a:off x="9473184" y="5020056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F1F1F4"/>
          </a:solidFill>
          <a:ln/>
        </p:spPr>
      </p:sp>
      <p:pic>
        <p:nvPicPr>
          <p:cNvPr id="48" name="Image 11" descr="/tmp/cp9x_deck/icon_eyeoff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2912" y="5161788"/>
            <a:ext cx="219456" cy="219456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9884664" y="5020056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ซิงค์ไป Sheet</a:t>
            </a:r>
            <a:endParaRPr lang="en-US" sz="1050" dirty="0"/>
          </a:p>
        </p:txBody>
      </p:sp>
      <p:sp>
        <p:nvSpPr>
          <p:cNvPr id="50" name="Text 3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51" name="Text 3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ตารางวางบิล — มุมมองผู้รับเหมา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ฝั่งผู้รับเหมา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billfor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สิ่งที่เห็น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172968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รายการงานของตัวเองที่ปิดงานแล้ว รอวางบิล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3739896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ค้นหา/กรองด้วยเลขงานหรือช่วงวันที่ปิดงาน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1069848" y="4306824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รายละเอียดอะไหล่และคำอธิบายงานแต่ละรายการ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502005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4"/>
          <p:cNvSpPr/>
          <p:nvPr/>
        </p:nvSpPr>
        <p:spPr>
          <a:xfrm>
            <a:off x="1069848" y="4873752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ปุ่มดาวน์โหลด CSV และ PDF แบบเดี่ยว (ของตัวเองเท่านั้น)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/tmp/cp9x_deck/icon_eyeoff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096719"/>
            <a:ext cx="332842" cy="33284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9224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สิ่งที่ไม่เห็น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649224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6693408" y="3172968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ตัวกรอง “เลือกผู้รับเหมา” — เพราะเห็นข้อมูลของตัวเองอยู่แล้ว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1"/>
          <p:cNvSpPr/>
          <p:nvPr/>
        </p:nvSpPr>
        <p:spPr>
          <a:xfrm>
            <a:off x="6693408" y="3739896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คอลัมน์ “ผู้รับเหมา” และ “รอบบิลที่ / ช่วงรอบบิล”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92240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3"/>
          <p:cNvSpPr/>
          <p:nvPr/>
        </p:nvSpPr>
        <p:spPr>
          <a:xfrm>
            <a:off x="6693408" y="4306824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คอลัมน์ “สถานะส่งบิล” และราคาต่อหน่วย/ราคารวม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492240" y="502005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9" name="Text 25"/>
          <p:cNvSpPr/>
          <p:nvPr/>
        </p:nvSpPr>
        <p:spPr>
          <a:xfrm>
            <a:off x="6693408" y="4873752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ปุ่มส่งบิลและปุ่มส่งออกหลายผู้รับเหมาพร้อมกัน (สำหรับแอดมิน)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ฟอร์มวางบิล — ขั้นตอนของผู้รับเหมา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ฝั่งผู้รับเหมา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7" name="Image 0" descr="/tmp/cp9x_deck/icon_refre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305181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โหลด/รีเฟรช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ดูเลขงานที่ถูกส่งบิลให้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783080" y="3268980"/>
            <a:ext cx="125272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035808" y="283464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1" name="Image 1" descr="/tmp/cp9x_deck/icon_downlo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978" y="305181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32888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ฟอร์มวางบิล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904488" y="3268980"/>
            <a:ext cx="125272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157216" y="283464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5" name="Image 2" descr="/tmp/cp9x_deck/icon_ed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386" y="305181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54296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กรอกข้อมูล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(ออฟไลน์)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25896" y="3268980"/>
            <a:ext cx="125272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7278624" y="283464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9" name="Image 3" descr="/tmp/cp9x_deck/icon_uplo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794" y="3051810"/>
            <a:ext cx="434340" cy="4343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75704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อัปโหลดกลับ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เข้าระบบ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147304" y="3268980"/>
            <a:ext cx="125272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9400032" y="2834640"/>
            <a:ext cx="868680" cy="8686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3" name="Image 4" descr="/tmp/cp9x_deck/icon_user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202" y="3051810"/>
            <a:ext cx="434340" cy="4343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897112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รออนุมัติ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จากแอดมิน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14400" y="4937760"/>
            <a:ext cx="10332720" cy="1280160"/>
          </a:xfrm>
          <a:prstGeom prst="roundRect">
            <a:avLst>
              <a:gd name="adj" fmla="val 6429"/>
            </a:avLst>
          </a:prstGeom>
          <a:solidFill>
            <a:srgbClr val="141B47"/>
          </a:solidFill>
          <a:ln/>
        </p:spPr>
      </p:sp>
      <p:sp>
        <p:nvSpPr>
          <p:cNvPr id="26" name="Text 19"/>
          <p:cNvSpPr/>
          <p:nvPr/>
        </p:nvSpPr>
        <p:spPr>
          <a:xfrm>
            <a:off x="1188720" y="493776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ถ้าแอดมินตีกลับ: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ต้องระบุหมายเหตุเสมอ ผู้รับเหมาจะเห็นหมายเหตุนั้น และเลขงานนั้นจะกลับไปอยู่ในโซน “งานที่ต้องดำเนินการ” ให้แก้ไขและส่งใหม่โดยอัตโนมัติ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สิทธิ์การเข้าถึงของแอดมิน — ทุกเมนู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folder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0916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737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เปิดงาน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737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3566160" y="1988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tmp/cp9x_deck/icon_folderclo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20916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737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ปิดงาน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988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cp9x_deck/icon_pau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70" y="20916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737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พักงาน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052560" y="1737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9235440" y="1988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tmp/cp9x_deck/icon_billfor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8310" y="20916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29800" y="1737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ตารางวางบิล (เต็ม)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2880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3" name="Shape 17"/>
          <p:cNvSpPr/>
          <p:nvPr/>
        </p:nvSpPr>
        <p:spPr>
          <a:xfrm>
            <a:off x="731520" y="3131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/tmp/cp9x_deck/icon_fi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323469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2880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ใบเสนอราคา PM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3383280" y="2880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7" name="Shape 20"/>
          <p:cNvSpPr/>
          <p:nvPr/>
        </p:nvSpPr>
        <p:spPr>
          <a:xfrm>
            <a:off x="3566160" y="3131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/tmp/cp9x_deck/icon_sear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9030" y="323469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160520" y="2880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ตรวจสอบเปิดงาน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217920" y="2880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31" name="Shape 23"/>
          <p:cNvSpPr/>
          <p:nvPr/>
        </p:nvSpPr>
        <p:spPr>
          <a:xfrm>
            <a:off x="6400800" y="3131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6" descr="/tmp/cp9x_deck/icon_searc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670" y="3234690"/>
            <a:ext cx="251460" cy="2514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95160" y="2880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ตรวจสอบปิดงาน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9052560" y="2880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35" name="Shape 26"/>
          <p:cNvSpPr/>
          <p:nvPr/>
        </p:nvSpPr>
        <p:spPr>
          <a:xfrm>
            <a:off x="9235440" y="3131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7" descr="/tmp/cp9x_deck/icon_char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8310" y="3234690"/>
            <a:ext cx="251460" cy="2514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829800" y="2880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รายงานสถานะดำเนินการ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548640" y="4023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39" name="Shape 29"/>
          <p:cNvSpPr/>
          <p:nvPr/>
        </p:nvSpPr>
        <p:spPr>
          <a:xfrm>
            <a:off x="731520" y="4274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0" name="Image 8" descr="/tmp/cp9x_deck/icon_inbox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90" y="4377690"/>
            <a:ext cx="251460" cy="25146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325880" y="4023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ไฟล์ผู้รับเหมาส่งกลับ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3383280" y="4023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43" name="Shape 32"/>
          <p:cNvSpPr/>
          <p:nvPr/>
        </p:nvSpPr>
        <p:spPr>
          <a:xfrm>
            <a:off x="3566160" y="4274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4" name="Image 9" descr="/tmp/cp9x_deck/icon_checksquar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9030" y="4377690"/>
            <a:ext cx="251460" cy="25146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160520" y="4023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งานที่เสร็จสิ้น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6217920" y="4023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47" name="Shape 35"/>
          <p:cNvSpPr/>
          <p:nvPr/>
        </p:nvSpPr>
        <p:spPr>
          <a:xfrm>
            <a:off x="6400800" y="42748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8" name="Image 10" descr="/tmp/cp9x_deck/icon_refresh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3670" y="4377690"/>
            <a:ext cx="251460" cy="25146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995160" y="4023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ซิงค์ไป Sheet</a:t>
            </a:r>
            <a:endParaRPr lang="en-US" sz="1200" dirty="0"/>
          </a:p>
        </p:txBody>
      </p:sp>
      <p:sp>
        <p:nvSpPr>
          <p:cNvPr id="50" name="Text 3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51" name="Text 3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เปิดงาน · ปิดงาน · พักงาน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folder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51760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เปิดงาน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172968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บันทึกวันเวลาที่เปิดงาน (เวลาไทย)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3739896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กรอกรายละเอียดงานที่ต้องดำเนินการ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1069848" y="4306824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วางข้อความจาก Kissflow แล้วดึงข้อมูลอัตโนมัติได้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78808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4498848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tmp/cp9x_deck/icon_folderclo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607" y="209671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98848" y="2651760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ปิดงาน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4498848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4700016" y="3172968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ระบุเลขงาน + เลขทรัพย์สิน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498848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4700016" y="3739896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เลขงานปิดได้หลายครั้งถ้าคนละทรัพย์สิน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498848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1"/>
          <p:cNvSpPr/>
          <p:nvPr/>
        </p:nvSpPr>
        <p:spPr>
          <a:xfrm>
            <a:off x="4700016" y="4306824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บันทึกวันเวลาที่ปิดงาน (เวลาไทย)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7808976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27" name="Shape 23"/>
          <p:cNvSpPr/>
          <p:nvPr/>
        </p:nvSpPr>
        <p:spPr>
          <a:xfrm>
            <a:off x="8129016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2" descr="/tmp/cp9x_deck/icon_pau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775" y="2096719"/>
            <a:ext cx="332842" cy="33284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129016" y="2651760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พักงาน</a:t>
            </a:r>
            <a:endParaRPr lang="en-US" sz="1900" dirty="0"/>
          </a:p>
        </p:txBody>
      </p:sp>
      <p:sp>
        <p:nvSpPr>
          <p:cNvPr id="30" name="Shape 25"/>
          <p:cNvSpPr/>
          <p:nvPr/>
        </p:nvSpPr>
        <p:spPr>
          <a:xfrm>
            <a:off x="8129016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1" name="Text 26"/>
          <p:cNvSpPr/>
          <p:nvPr/>
        </p:nvSpPr>
        <p:spPr>
          <a:xfrm>
            <a:off x="8330184" y="3172968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บันทึกเหตุผลที่พักงาน + ผู้ทำรายการ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129016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3" name="Text 28"/>
          <p:cNvSpPr/>
          <p:nvPr/>
        </p:nvSpPr>
        <p:spPr>
          <a:xfrm>
            <a:off x="8330184" y="3739896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ค้นหาประวัติการพักงานย้อนหลังได้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8129016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5" name="Text 30"/>
          <p:cNvSpPr/>
          <p:nvPr/>
        </p:nvSpPr>
        <p:spPr>
          <a:xfrm>
            <a:off x="8330184" y="4306824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กรองด้วยเลขงาน/สาขา/สาเหตุ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ตารางวางบิล และการส่งบิล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billfor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จัดการก่อนส่ง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172968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กรองดูทีละผู้รับเหมา หรือเลือก “ทุกผู้รับเหมา” เพื่อดูบิลรวม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3739896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แก้ไขรายการ เลือกอะไหล่ และกำหนดราคาต่อหน่วยได้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1069848" y="4306824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แยกประเภทบิล: ปกติ / เคลมประกัน / เคลมอะไหล่ (ผู้รับเหมา)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tmp/cp9x_deck/icon_s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09671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9224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ส่งบิลและออกรายงาน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49224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6693408" y="3172968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 “ส่งบิลให้ผู้รับเหมา” กระจายงานตามผู้รับเหมาอัตโนมัติ ป้องกันส่งซ้ำ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9224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6693408" y="3739896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ระบบสรุปจำนวนรายการต่อผู้รับเหมาก่อนยืนยันส่งทุกครั้ง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1"/>
          <p:cNvSpPr/>
          <p:nvPr/>
        </p:nvSpPr>
        <p:spPr>
          <a:xfrm>
            <a:off x="6693408" y="4306824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ออกรายงาน CSV/PDF แยกฝั่ง CJ และฝั่งผู้รับเหมาได้ทันที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ตรวจงานที่ผู้รับเหมาส่งกลับ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in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ไฟล์ผู้รับเหมาส่งกลับ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172968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ดู/กรองไฟล์ฟอร์มวางบิลที่ผู้รับเหมาอัปโหลดกลับเข้ามา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3739896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 “อนุมัติ” หรือ “ตีกลับ” แต่ละรายการ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1069848" y="4306824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ถ้าตีกลับ ต้องกรอกหมายเหตุก่อนเสมอ (บังคับ)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5020056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4"/>
          <p:cNvSpPr/>
          <p:nvPr/>
        </p:nvSpPr>
        <p:spPr>
          <a:xfrm>
            <a:off x="1069848" y="4873752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งานที่ตีกลับจะย้อนกลับไปอยู่ในโซนของผู้รับเหมาให้แก้ไขใหม่โดยอัตโนมัติ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/tmp/cp9x_deck/icon_checksqua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096719"/>
            <a:ext cx="332842" cy="33284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9224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งานที่เสร็จสิ้น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649224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6693408" y="3172968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รวมรายการที่ผ่านการอนุมัติแล้วทั้งหมด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1"/>
          <p:cNvSpPr/>
          <p:nvPr/>
        </p:nvSpPr>
        <p:spPr>
          <a:xfrm>
            <a:off x="6693408" y="3739896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ใช้เป็นหลักฐานอ้างอิงย้อนหลังเมื่อมีข้อโต้แย้งเรื่องบิล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92240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3"/>
          <p:cNvSpPr/>
          <p:nvPr/>
        </p:nvSpPr>
        <p:spPr>
          <a:xfrm>
            <a:off x="6693408" y="4306824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แยกจากคิว “รออนุมัติ” อย่างชัดเจน ไม่ปะปนกัน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รายงาน ตรวจสอบ และเครื่องมือเสริม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509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4708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ตรวจสอบเปิดงาน / ปิดงาน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577840" y="184708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ดู/กรองรายการทั้งหมดแบบอ่านอย่างเดียว เพื่อกำกับดูแลภาพรวม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5292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0358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tmp/cp9x_deck/icon_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3166567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96265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รายงานสถานะดำเนินการ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2962656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 เปิดงาน → ปิดงาน → วางบิล พร้อมนับพักงาน/รอดำเนินการ/ปิดงานแล้ว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15137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tmp/cp9x_deck/icon_f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282135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07822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ใบเสนอราคา PM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4078224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สร้างใบเสนอราคาจากงานที่ปิดแล้ว ดาวน์โหลด PDF หรือ Excel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08406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526694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tmp/cp9x_deck/icon_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5397703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51937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ซิงค์ข้อมูลไป Sheet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519379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ปุ่มซิงค์ด้วยตนเองไปยัง Google Sheet เมื่อต้องการ (เฉพาะแอดมิน)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tmp/cp9x_deck/icon_pi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4917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240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CP9X-PM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สองแอปแยกกัน: “แอปช่าง” บนมือถือ สำหรับทีมช่าง และ “ระบบติดตาม PM” สำหรับแอดมิน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470916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709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ช่าง: เข้าสู่ระบบ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395728" y="470916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1" name="Text 8"/>
          <p:cNvSpPr/>
          <p:nvPr/>
        </p:nvSpPr>
        <p:spPr>
          <a:xfrm>
            <a:off x="2395728" y="4709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ปฏิทิน+งาน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968496" y="470916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3" name="Text 10"/>
          <p:cNvSpPr/>
          <p:nvPr/>
        </p:nvSpPr>
        <p:spPr>
          <a:xfrm>
            <a:off x="3968496" y="4709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บุควันเข้าทำ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41264" y="470916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5" name="Text 12"/>
          <p:cNvSpPr/>
          <p:nvPr/>
        </p:nvSpPr>
        <p:spPr>
          <a:xfrm>
            <a:off x="5541264" y="4709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ประวัติ+แจ้งเตือน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114032" y="470916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7" name="Text 14"/>
          <p:cNvSpPr/>
          <p:nvPr/>
        </p:nvSpPr>
        <p:spPr>
          <a:xfrm>
            <a:off x="7114032" y="4709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แอดมิน: ภาพรวม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686800" y="470916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4709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 2 ขั้น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0259568" y="470916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/>
        </p:spPr>
      </p:sp>
      <p:sp>
        <p:nvSpPr>
          <p:cNvPr id="21" name="Text 18"/>
          <p:cNvSpPr/>
          <p:nvPr/>
        </p:nvSpPr>
        <p:spPr>
          <a:xfrm>
            <a:off x="10259568" y="47091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ข้อมูล+สัญญา+สาขา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แอปช่าง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เข้าสู่ระบบ และหน้าหลัก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ฝั่งช่าง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log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เข้าสู่ระบบ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172968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ล็อกอินด้วยอีเมลและรหัสผ่าน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3739896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บัญชีต้องถูกผูกกับชื่อช่างไว้ล่วงหน้าโดยแอดมิน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1069848" y="4306824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ถ้ายังไม่ผูก ระบบแจ้งเตือน “บัญชีนี้ยังไม่ได้ผูกกับชื่อช่าง กรุณาแจ้งแอดมิน”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tmp/cp9x_deck/icon_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09671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92240" y="2651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หน้าหลัก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49224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6693408" y="3172968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แถบบนมีปุ่ม โหลดใหม่ / แจ้งเตือน (จุดแดงเมื่อมีของใหม่) / โปรไฟล์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9224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19"/>
          <p:cNvSpPr/>
          <p:nvPr/>
        </p:nvSpPr>
        <p:spPr>
          <a:xfrm>
            <a:off x="6693408" y="3739896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ปฏิทิน 2 โหมด: “นัดหมาย” (วันที่บุคไว้) และ “ครบกำหนด” (ตามสัญญา)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4453128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5" name="Text 21"/>
          <p:cNvSpPr/>
          <p:nvPr/>
        </p:nvSpPr>
        <p:spPr>
          <a:xfrm>
            <a:off x="6693408" y="4306824"/>
            <a:ext cx="459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 “วันนี้” และลูกศรเปลี่ยนเดือนก่อนหน้า/ถัดไป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แอปช่าง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ปฏิทิน และรายการงาน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ฝั่งช่าง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509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4708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แตะวันที่ในปฏิทิน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577840" y="184708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ดูรายชื่อสาขาที่มีงานประจำวันนั้นทันที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85292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0358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tmp/cp9x_deck/icon_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3166567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96265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ค้นหางาน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2962656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ค้นหาด้วยรหัสสาขาหรือชื่อสาขา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15137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tmp/cp9x_deck/icon_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282135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07822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กรองด้วยชิปสถานะ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4078224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แต่ละชิปแสดงจำนวนงานในสถานะนั้นกำกับไว้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08406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526694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tmp/cp9x_deck/icon_alert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5397703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51937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เตือนงานล่าช้า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519379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แสดงวันครบกำหนดตามสัญญา คู่กับวันที่บุคไว้ และเตือนถ้าหลังวันครบกำหนด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แอปช่าง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บุควันเข้าทำงาน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ฝั่งช่าง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7" name="Image 0" descr="/tmp/cp9x_deck/icon_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305181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 “บุควันเข้าทำ”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หรือ “แก้ไขวันที่”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83080" y="3268980"/>
            <a:ext cx="125272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035808" y="283464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1" name="Image 1" descr="/tmp/cp9x_deck/icon_edi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978" y="305181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32888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เลือกวันที่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(มีปุ่มลัดวันให้เลือก)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04488" y="3268980"/>
            <a:ext cx="125272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157216" y="283464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5" name="Image 2" descr="/tmp/cp9x_deck/icon_alert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386" y="305181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54296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เตือนถ้าเลือก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วันเลย/ผ่านกำหนด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25896" y="3268980"/>
            <a:ext cx="125272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7278624" y="2834640"/>
            <a:ext cx="868680" cy="8686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9" name="Image 3" descr="/tmp/cp9x_deck/icon_f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794" y="3051810"/>
            <a:ext cx="434340" cy="4343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75704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กรอกหมายเหตุ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(เช่น อะไหล่ไม่มา)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147304" y="3268980"/>
            <a:ext cx="1252728" cy="0"/>
          </a:xfrm>
          <a:prstGeom prst="line">
            <a:avLst/>
          </a:prstGeom>
          <a:noFill/>
          <a:ln w="25400">
            <a:solidFill>
              <a:srgbClr val="45509A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9400032" y="2834640"/>
            <a:ext cx="868680" cy="8686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3" name="Image 4" descr="/tmp/cp9x_deck/icon_sen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202" y="3051810"/>
            <a:ext cx="434340" cy="4343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897112" y="38130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ส่งให้แอดมิน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914400" y="4937760"/>
            <a:ext cx="10332720" cy="1280160"/>
          </a:xfrm>
          <a:prstGeom prst="roundRect">
            <a:avLst>
              <a:gd name="adj" fmla="val 6429"/>
            </a:avLst>
          </a:prstGeom>
          <a:solidFill>
            <a:srgbClr val="141B47"/>
          </a:solidFill>
          <a:ln/>
        </p:spPr>
      </p:sp>
      <p:sp>
        <p:nvSpPr>
          <p:cNvPr id="26" name="Text 19"/>
          <p:cNvSpPr/>
          <p:nvPr/>
        </p:nvSpPr>
        <p:spPr>
          <a:xfrm>
            <a:off x="1188720" y="493776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ข้อจำกัดสำคัญ: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ช่างแก้ไขวันที่เองได้ตราบใดที่แอดมินยังไม่กดยืนยันงาน หลังจากยืนยันแล้ว ต้องให้แอดมินเป็นผู้เลื่อนหรือยกเลิกนัดหมายให้เท่านั้น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แอปช่าง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ประวัติงาน แจ้งเตือน และโปรไฟล์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ฝั่งช่าง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archi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51760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ประวัติงาน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172968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แท็บค้นหางานที่เข้าทำแล้ว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3739896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ไอคอนสถานะ: เสร็จตรงเวลา / เสร็จล่าช้า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78808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498848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tmp/cp9x_deck/icon_bel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607" y="209671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98848" y="2651760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แจ้งเตือน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4498848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" name="Text 15"/>
          <p:cNvSpPr/>
          <p:nvPr/>
        </p:nvSpPr>
        <p:spPr>
          <a:xfrm>
            <a:off x="4700016" y="3172968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กดกระดิ่งเพื่อดูรายการแจ้งเตือนของตัวเอง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498848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4700016" y="3739896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จุดแดงเตือนเมื่อมีการแจ้งเตือนใหม่ เช่น ถูกยกเลิกนัด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808976" y="1691640"/>
            <a:ext cx="3465576" cy="4480560"/>
          </a:xfrm>
          <a:prstGeom prst="roundRect">
            <a:avLst>
              <a:gd name="adj" fmla="val 2639"/>
            </a:avLst>
          </a:prstGeom>
          <a:solidFill>
            <a:srgbClr val="F4F6FC"/>
          </a:solidFill>
          <a:ln/>
        </p:spPr>
      </p:sp>
      <p:sp>
        <p:nvSpPr>
          <p:cNvPr id="23" name="Shape 19"/>
          <p:cNvSpPr/>
          <p:nvPr/>
        </p:nvSpPr>
        <p:spPr>
          <a:xfrm>
            <a:off x="8129016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tmp/cp9x_deck/icon_user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775" y="2096719"/>
            <a:ext cx="332842" cy="33284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129016" y="2651760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โปรไฟล์</a:t>
            </a:r>
            <a:endParaRPr lang="en-US" sz="1900" dirty="0"/>
          </a:p>
        </p:txBody>
      </p:sp>
      <p:sp>
        <p:nvSpPr>
          <p:cNvPr id="26" name="Shape 21"/>
          <p:cNvSpPr/>
          <p:nvPr/>
        </p:nvSpPr>
        <p:spPr>
          <a:xfrm>
            <a:off x="8129016" y="3319272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2"/>
          <p:cNvSpPr/>
          <p:nvPr/>
        </p:nvSpPr>
        <p:spPr>
          <a:xfrm>
            <a:off x="8330184" y="3172968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 + ตัวอักษรนำ, สรุปจำนวนงานตามสถานะ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129016" y="3886200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9" name="Text 24"/>
          <p:cNvSpPr/>
          <p:nvPr/>
        </p:nvSpPr>
        <p:spPr>
          <a:xfrm>
            <a:off x="8330184" y="3739896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สลับโหมดมืด/สว่าง และปุ่มออกจากระบบ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ระบบติดตาม PM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ภาพรวมสำหรับแอดมิน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tmp/cp9x_deck/icon_p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8882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หน้าที่หลัก: อนุมัติงานที่ช่างบุควันไว้ และงานที่บันทึกเข้ามา ด้วยการอนุมัติ 2 ขั้น (ยืนยันงาน + ยืนยันรูป) พร้อมบริหารข้อมูลทั้งระบบ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cp9x_deck/icon_user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13067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743200"/>
            <a:ext cx="25328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อนุมัติงาน 2 ขั้น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06824" y="274320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4507992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tmp/cp9x_deck/icon_pi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149" y="313067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75504" y="2743200"/>
            <a:ext cx="25328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65008" y="274320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266176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tmp/cp9x_deck/icon_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333" y="313067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33688" y="2743200"/>
            <a:ext cx="25328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ตั้งค่าระบบ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3959352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2" name="Shape 16"/>
          <p:cNvSpPr/>
          <p:nvPr/>
        </p:nvSpPr>
        <p:spPr>
          <a:xfrm>
            <a:off x="749808" y="4233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tmp/cp9x_deck/icon_fileplu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" y="4346829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3959352"/>
            <a:ext cx="25328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นำเข้าข้อมูล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306824" y="3959352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6" name="Shape 19"/>
          <p:cNvSpPr/>
          <p:nvPr/>
        </p:nvSpPr>
        <p:spPr>
          <a:xfrm>
            <a:off x="4507992" y="4233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/tmp/cp9x_deck/icon_edi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1149" y="4346829"/>
            <a:ext cx="276606" cy="27660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75504" y="3959352"/>
            <a:ext cx="25328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8065008" y="3959352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30" name="Shape 22"/>
          <p:cNvSpPr/>
          <p:nvPr/>
        </p:nvSpPr>
        <p:spPr>
          <a:xfrm>
            <a:off x="8266176" y="4233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6" descr="/tmp/cp9x_deck/icon_alertcirc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9333" y="4346829"/>
            <a:ext cx="276606" cy="27660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933688" y="3959352"/>
            <a:ext cx="25328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Alerts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548640" y="5175504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34" name="Shape 25"/>
          <p:cNvSpPr/>
          <p:nvPr/>
        </p:nvSpPr>
        <p:spPr>
          <a:xfrm>
            <a:off x="749808" y="5449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7" descr="/tmp/cp9x_deck/icon_trendu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965" y="5562981"/>
            <a:ext cx="276606" cy="27660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417320" y="5175504"/>
            <a:ext cx="25328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สัญญา &amp; เลื่อนขั้น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4306824" y="5175504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38" name="Shape 28"/>
          <p:cNvSpPr/>
          <p:nvPr/>
        </p:nvSpPr>
        <p:spPr>
          <a:xfrm>
            <a:off x="4507992" y="5449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8" descr="/tmp/cp9x_deck/icon_mappin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1149" y="5562981"/>
            <a:ext cx="276606" cy="27660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175504" y="5175504"/>
            <a:ext cx="25328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ทะเบียนสาขา</a:t>
            </a:r>
            <a:endParaRPr lang="en-US" sz="1250" dirty="0"/>
          </a:p>
        </p:txBody>
      </p:sp>
      <p:sp>
        <p:nvSpPr>
          <p:cNvPr id="41" name="Shape 30"/>
          <p:cNvSpPr/>
          <p:nvPr/>
        </p:nvSpPr>
        <p:spPr>
          <a:xfrm>
            <a:off x="8065008" y="5175504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42" name="Shape 31"/>
          <p:cNvSpPr/>
          <p:nvPr/>
        </p:nvSpPr>
        <p:spPr>
          <a:xfrm>
            <a:off x="8266176" y="5449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3" name="Image 9" descr="/tmp/cp9x_deck/icon_archiv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9333" y="5562981"/>
            <a:ext cx="276606" cy="27660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933688" y="5175504"/>
            <a:ext cx="25328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ประวัติ SSS</a:t>
            </a:r>
            <a:endParaRPr lang="en-US" sz="1250" dirty="0"/>
          </a:p>
        </p:txBody>
      </p:sp>
      <p:sp>
        <p:nvSpPr>
          <p:cNvPr id="45" name="Text 3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ระบบติดตาม PM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อนุมัติงาน 2 ขั้น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291840" cy="1920240"/>
          </a:xfrm>
          <a:prstGeom prst="roundRect">
            <a:avLst>
              <a:gd name="adj" fmla="val 4286"/>
            </a:avLst>
          </a:prstGeom>
          <a:solidFill>
            <a:srgbClr val="141B47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9659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8" name="Image 0" descr="/tmp/cp9x_deck/icon_calend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0866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ปฏิทินอนุมัติ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9718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ดูรายการงานที่ช่างบุควันไว้ในแต่ละวัน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737360"/>
            <a:ext cx="3291840" cy="1920240"/>
          </a:xfrm>
          <a:prstGeom prst="roundRect">
            <a:avLst>
              <a:gd name="adj" fmla="val 4286"/>
            </a:avLst>
          </a:prstGeom>
          <a:solidFill>
            <a:srgbClr val="141B47"/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19659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1" descr="/tmp/cp9x_deck/icon_user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61" y="20866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ขั้น 1 · ยืนยันงาน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80560" y="29718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ยืนยันว่าช่างเข้าทำงานจริงตามวันที่บุคไว้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80960" y="1737360"/>
            <a:ext cx="3291840" cy="1920240"/>
          </a:xfrm>
          <a:prstGeom prst="roundRect">
            <a:avLst>
              <a:gd name="adj" fmla="val 4286"/>
            </a:avLst>
          </a:prstGeom>
          <a:solidFill>
            <a:srgbClr val="141B47"/>
          </a:solidFill>
          <a:ln/>
        </p:spPr>
      </p:sp>
      <p:sp>
        <p:nvSpPr>
          <p:cNvPr id="17" name="Shape 13"/>
          <p:cNvSpPr/>
          <p:nvPr/>
        </p:nvSpPr>
        <p:spPr>
          <a:xfrm>
            <a:off x="7909560" y="19659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8" name="Image 2" descr="/tmp/cp9x_deck/icon_imag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61" y="20866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0956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ขั้น 2 · ยืนยันรูป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909560" y="29718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ตรวจรูปหลักฐานการเข้างานก่อนปิดงาน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22960" y="3886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งานจะนับว่า “ปิดงานแล้ว” ก็ต่อเมื่อยืนยันครบทั้ง 2 ขั้นเท่านั้น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822960" y="4434840"/>
            <a:ext cx="10332720" cy="1691640"/>
          </a:xfrm>
          <a:prstGeom prst="roundRect">
            <a:avLst>
              <a:gd name="adj" fmla="val 4865"/>
            </a:avLst>
          </a:prstGeom>
          <a:solidFill>
            <a:srgbClr val="141B47"/>
          </a:solidFill>
          <a:ln/>
        </p:spPr>
      </p:sp>
      <p:sp>
        <p:nvSpPr>
          <p:cNvPr id="23" name="Shape 18"/>
          <p:cNvSpPr/>
          <p:nvPr/>
        </p:nvSpPr>
        <p:spPr>
          <a:xfrm>
            <a:off x="1051560" y="4663440"/>
            <a:ext cx="502920" cy="502920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24" name="Image 3" descr="/tmp/cp9x_deck/icon_x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202" y="477408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37360" y="4572000"/>
            <a:ext cx="9235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ยกเลิก / เลื่อนนัดหมาย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แอดมินกดปุ่ม “ยกเลิกนัดหมาย” หรือ “ยกเลิกงาน” ได้ทุกเมื่อ — ช่างจะเห็นแจ้งเตือนให้บุควันใหม่ทันที และระบบนับจำนวนครั้งที่เลื่อนนัดของแต่ละงานไว้ในประวัติ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CP9X-PM · ระบบติดตาม PM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ข้อมูล สัญญา สาขา และประวัติ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65792" y="438912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65792" y="4389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tmp/cp9x_deck/icon_file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509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470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นำเข้าข้อมูล + ตั้งค่าระบบ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1847088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อัปโหลด CSV/Excel พร้อมแมปคอลัมน์ · กำหนดวันแจ้งเตือนล่วงหน้าและ Grace Period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85292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0358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tmp/cp9x_deck/icon_trend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3166567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96265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สัญญา &amp; การเลื่อนขั้น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760720" y="2962656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ติดตามสัญญา In Warranty / Service Contract / Turnkey และเลื่อนขั้นแบบกลุ่ม (Bulk Upgrade)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15137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tmp/cp9x_deck/icon_mapp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282135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07822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ทะเบียนสาขา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760720" y="4078224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เพิ่ม/แก้ไขสาขา ค้นหา-กรองตามประเภทสัญญา ผู้รับเหมา ช่าง และสถานะ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08406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526694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tmp/cp9x_deck/icon_archi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5397703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519379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ประวัติบันทึกงานระดับ SSS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760720" y="5193792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ค้นหา/กรองประวัติงานย้อนหลังทั้งหมด แยกตาม Type A (วางแผน) และ Type C (ซ่อม)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&amp; CP9X-PM · คู่มือแยกตามบทบาท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5367528" y="109728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/tmp/cp9x_deck/icon_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3268" y="13030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402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จบคู่มือ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บทบาทกำหนดสิ่งที่มองเห็น: ผู้รับเหมา/ช่างทำงานภาคสนามและส่งข้อมูลกลับ ส่วนแอดมินเป็นผู้ตรวจสอบ อนุมัติ และควบคุมภาพรวมทั้งระบบ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926080" y="411480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8" name="Image 1" descr="/tmp/cp9x_deck/icon_git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42176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0440" y="4114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github.com/chollachat89/cp9x-desktop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926080" y="4754880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1" name="Image 2" descr="/tmp/cp9x_deck/icon_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485775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0440" y="4754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supabase.com/dashboard/project/hefnjozijflnhdunmewl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มีคู่มือภาพรวมฟีเจอร์ทั้งหมด (ไม่แยกบทบาท) และคู่มือระบบอัพเดตอัตโนมัติแยกต่างหาก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2026-08-25T09:45:29Z</dcterms:created>
  <dcterms:modified xsi:type="dcterms:W3CDTF">2026-08-25T09:45:29Z</dcterms:modified>
</cp:coreProperties>
</file>