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image" Target="../media/image-2-2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4937760" cy="4937760"/>
          </a:xfrm>
          <a:prstGeom prst="ellipse">
            <a:avLst/>
          </a:prstGeom>
          <a:solidFill>
            <a:srgbClr val="0E3D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481328"/>
            <a:ext cx="841248" cy="841248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4" name="Image 0" descr="/tmp/cp9x_deck/g_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189" y="1716877"/>
            <a:ext cx="370149" cy="3701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523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· ENERGY CONSULTANT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2852928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คู่มือการใช้งานฝั่งแอดมิน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378561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CF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เปิดงาน  ·  ปิดงาน  ·  พักงาน  ·  วางบิล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48640" y="437083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อธิบายทีละหน้าจอ พร้อมภาพจากโปรแกรมจริง และช่องที่ระบบบังคับกรอก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5870448"/>
            <a:ext cx="10058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เอกสารชุดนี้แยกเป็น 2 เล่ม — เล่มนี้คือฝั่งแอดมิน อีกเล่มคือฝั่งผู้รับเหมา/ช่าง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ภาพรวม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วงจรงาน CM ที่แอดมินดูแลทั้งหมด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814255" y="402336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</p:sp>
      <p:sp>
        <p:nvSpPr>
          <p:cNvPr id="5" name="Text 3"/>
          <p:cNvSpPr/>
          <p:nvPr/>
        </p:nvSpPr>
        <p:spPr>
          <a:xfrm>
            <a:off x="9814255" y="40233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ฝั่งแอดมิน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15184" cy="2194560"/>
          </a:xfrm>
          <a:prstGeom prst="roundRect">
            <a:avLst>
              <a:gd name="adj" fmla="val 4167"/>
            </a:avLst>
          </a:prstGeom>
          <a:solidFill>
            <a:srgbClr val="F1F5F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2057400"/>
            <a:ext cx="548640" cy="54864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8" name="Image 0" descr="/tmp/cp9x_deck/g_folderope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867" y="2211019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271576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เปิดงาน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41248" y="315468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รับใบแจ้งซ่อมบำรุงเข้าระบบ ระบุผู้รับเหมาที่รับผิดชอบ และบันทึกวันเวลาที่เปิดงาน</a:t>
            </a:r>
            <a:endParaRPr lang="en-US" sz="1150" dirty="0"/>
          </a:p>
        </p:txBody>
      </p:sp>
      <p:pic>
        <p:nvPicPr>
          <p:cNvPr id="11" name="Image 1" descr="/tmp/cp9x_deck/g_chevronright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44" y="2779776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56432" y="1783080"/>
            <a:ext cx="2615184" cy="2194560"/>
          </a:xfrm>
          <a:prstGeom prst="roundRect">
            <a:avLst>
              <a:gd name="adj" fmla="val 4167"/>
            </a:avLst>
          </a:prstGeom>
          <a:solidFill>
            <a:srgbClr val="F1F5F3"/>
          </a:solidFill>
          <a:ln/>
        </p:spPr>
      </p:sp>
      <p:sp>
        <p:nvSpPr>
          <p:cNvPr id="13" name="Shape 9"/>
          <p:cNvSpPr/>
          <p:nvPr/>
        </p:nvSpPr>
        <p:spPr>
          <a:xfrm>
            <a:off x="3749040" y="2057400"/>
            <a:ext cx="548640" cy="54864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14" name="Image 2" descr="/tmp/cp9x_deck/g_pau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2659" y="221101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49040" y="271576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พักงาน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3749040" y="315468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ใช้เมื่องานต้องหยุดรอ เช่น รออะไหล่ หรือรอลูกค้ายืนยัน — ทำเฉพาะเมื่อจำเป็น</a:t>
            </a:r>
            <a:endParaRPr lang="en-US" sz="1150" dirty="0"/>
          </a:p>
        </p:txBody>
      </p:sp>
      <p:pic>
        <p:nvPicPr>
          <p:cNvPr id="17" name="Image 3" descr="/tmp/cp9x_deck/g_chevronright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36" y="2779776"/>
            <a:ext cx="201168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364224" y="1783080"/>
            <a:ext cx="2615184" cy="2194560"/>
          </a:xfrm>
          <a:prstGeom prst="roundRect">
            <a:avLst>
              <a:gd name="adj" fmla="val 4167"/>
            </a:avLst>
          </a:prstGeom>
          <a:solidFill>
            <a:srgbClr val="F1F5F3"/>
          </a:solidFill>
          <a:ln/>
        </p:spPr>
      </p:sp>
      <p:sp>
        <p:nvSpPr>
          <p:cNvPr id="19" name="Shape 13"/>
          <p:cNvSpPr/>
          <p:nvPr/>
        </p:nvSpPr>
        <p:spPr>
          <a:xfrm>
            <a:off x="6656832" y="2057400"/>
            <a:ext cx="548640" cy="54864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20" name="Image 4" descr="/tmp/cp9x_deck/g_checkdoub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0451" y="2211019"/>
            <a:ext cx="241402" cy="24140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656832" y="271576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ปิดงาน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6656832" y="315468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บันทึกวันที่เข้าแก้ไข อะไหล่ที่เปลี่ยน สิ่งที่ดำเนินการ และวันเวลาที่ปิดงาน</a:t>
            </a:r>
            <a:endParaRPr lang="en-US" sz="1150" dirty="0"/>
          </a:p>
        </p:txBody>
      </p:sp>
      <p:pic>
        <p:nvPicPr>
          <p:cNvPr id="23" name="Image 5" descr="/tmp/cp9x_deck/g_chevronright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5128" y="2779776"/>
            <a:ext cx="201168" cy="201168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9272016" y="1783080"/>
            <a:ext cx="2615184" cy="2194560"/>
          </a:xfrm>
          <a:prstGeom prst="roundRect">
            <a:avLst>
              <a:gd name="adj" fmla="val 4167"/>
            </a:avLst>
          </a:prstGeom>
          <a:solidFill>
            <a:srgbClr val="F1F5F3"/>
          </a:solidFill>
          <a:ln/>
        </p:spPr>
      </p:sp>
      <p:sp>
        <p:nvSpPr>
          <p:cNvPr id="25" name="Shape 17"/>
          <p:cNvSpPr/>
          <p:nvPr/>
        </p:nvSpPr>
        <p:spPr>
          <a:xfrm>
            <a:off x="9564624" y="2057400"/>
            <a:ext cx="548640" cy="54864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26" name="Image 6" descr="/tmp/cp9x_deck/g_receip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8243" y="2211019"/>
            <a:ext cx="241402" cy="24140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564624" y="271576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วางบิล</a:t>
            </a:r>
            <a:endParaRPr lang="en-US" sz="1700" dirty="0"/>
          </a:p>
        </p:txBody>
      </p:sp>
      <p:sp>
        <p:nvSpPr>
          <p:cNvPr id="28" name="Text 19"/>
          <p:cNvSpPr/>
          <p:nvPr/>
        </p:nvSpPr>
        <p:spPr>
          <a:xfrm>
            <a:off x="9564624" y="315468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ดึงงานที่ปิดแล้วมาออกรอบบิล ตรวจราคา แล้วส่งบิลให้ผู้รับเหมาดำเนินการต่อ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548640" y="4572000"/>
            <a:ext cx="11094415" cy="868680"/>
          </a:xfrm>
          <a:prstGeom prst="roundRect">
            <a:avLst>
              <a:gd name="adj" fmla="val 9474"/>
            </a:avLst>
          </a:prstGeom>
          <a:solidFill>
            <a:srgbClr val="DCFCE7"/>
          </a:solidFill>
          <a:ln/>
        </p:spPr>
      </p:sp>
      <p:sp>
        <p:nvSpPr>
          <p:cNvPr id="30" name="Shape 21"/>
          <p:cNvSpPr/>
          <p:nvPr/>
        </p:nvSpPr>
        <p:spPr>
          <a:xfrm>
            <a:off x="786384" y="4796028"/>
            <a:ext cx="420624" cy="420624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1" name="Image 7" descr="/tmp/cp9x_deck/g_lock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159" y="4913803"/>
            <a:ext cx="185075" cy="185075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335024" y="4681728"/>
            <a:ext cx="10070287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ทั้ง 4 เมนูนี้อยู่ในหมวด "งาน CM (งานซ่อม)" และแสดงเฉพาะบัญชีที่เป็นแอดมินเท่านั้น — บัญชีผู้รับเหมาจะไม่เห็นเมนูเหล่านี้เลย</a:t>
            </a:r>
            <a:endParaRPr lang="en-US" sz="1200" dirty="0"/>
          </a:p>
        </p:txBody>
      </p:sp>
      <p:sp>
        <p:nvSpPr>
          <p:cNvPr id="33" name="Text 23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· คู่มือฝั่งแอดมิน — เปิดงาน ปิดงาน พักงาน วางบิล</a:t>
            </a:r>
            <a:endParaRPr lang="en-US" sz="950" dirty="0"/>
          </a:p>
        </p:txBody>
      </p:sp>
      <p:sp>
        <p:nvSpPr>
          <p:cNvPr id="34" name="Text 24"/>
          <p:cNvSpPr/>
          <p:nvPr/>
        </p:nvSpPr>
        <p:spPr>
          <a:xfrm>
            <a:off x="11002975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จุดเริ่มต้น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เมนูทั้งหมดที่บัญชีแอดมินมองเห็น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814255" y="402336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</p:sp>
      <p:sp>
        <p:nvSpPr>
          <p:cNvPr id="5" name="Text 3"/>
          <p:cNvSpPr/>
          <p:nvPr/>
        </p:nvSpPr>
        <p:spPr>
          <a:xfrm>
            <a:off x="9814255" y="40233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ฝั่งแอดมิน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3877" y="1426464"/>
            <a:ext cx="1675526" cy="4736592"/>
          </a:xfrm>
          <a:prstGeom prst="roundRect">
            <a:avLst>
              <a:gd name="adj" fmla="val 3274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  <a:effectLst>
            <a:outerShdw sx="100000" sy="100000" kx="0" ky="0" algn="bl" rotWithShape="0" blurRad="127000" dist="635" dir="5400000">
              <a:srgbClr val="9AA8A0">
                <a:alpha val="45000"/>
              </a:srgbClr>
            </a:outerShdw>
          </a:effectLst>
        </p:spPr>
      </p:sp>
      <p:pic>
        <p:nvPicPr>
          <p:cNvPr id="7" name="Image 0" descr="/tmp/cp9x_shots/crop-sidebar-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741" y="1481328"/>
            <a:ext cx="1565798" cy="46268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0" y="1536192"/>
            <a:ext cx="8442655" cy="1078992"/>
          </a:xfrm>
          <a:prstGeom prst="roundRect">
            <a:avLst>
              <a:gd name="adj" fmla="val 7627"/>
            </a:avLst>
          </a:prstGeom>
          <a:solidFill>
            <a:srgbClr val="F1F5F3"/>
          </a:solidFill>
          <a:ln/>
        </p:spPr>
      </p:sp>
      <p:sp>
        <p:nvSpPr>
          <p:cNvPr id="9" name="Text 6"/>
          <p:cNvSpPr/>
          <p:nvPr/>
        </p:nvSpPr>
        <p:spPr>
          <a:xfrm>
            <a:off x="3474720" y="1682496"/>
            <a:ext cx="7894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งาน CM (งานซ่อม)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3474720" y="2039112"/>
            <a:ext cx="7894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เปิดงาน · ปิดงาน · พักงาน · ตารางวางบิล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0" y="2761488"/>
            <a:ext cx="8442655" cy="1078992"/>
          </a:xfrm>
          <a:prstGeom prst="roundRect">
            <a:avLst>
              <a:gd name="adj" fmla="val 7627"/>
            </a:avLst>
          </a:prstGeom>
          <a:solidFill>
            <a:srgbClr val="F1F5F3"/>
          </a:solidFill>
          <a:ln/>
        </p:spPr>
      </p:sp>
      <p:sp>
        <p:nvSpPr>
          <p:cNvPr id="12" name="Text 9"/>
          <p:cNvSpPr/>
          <p:nvPr/>
        </p:nvSpPr>
        <p:spPr>
          <a:xfrm>
            <a:off x="3474720" y="2907792"/>
            <a:ext cx="7894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งาน PM (บำรุงรักษา)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3474720" y="3264408"/>
            <a:ext cx="7894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ใบเสนอราคา PM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00400" y="3986784"/>
            <a:ext cx="8442655" cy="1078992"/>
          </a:xfrm>
          <a:prstGeom prst="roundRect">
            <a:avLst>
              <a:gd name="adj" fmla="val 7627"/>
            </a:avLst>
          </a:prstGeom>
          <a:solidFill>
            <a:srgbClr val="F1F5F3"/>
          </a:solidFill>
          <a:ln/>
        </p:spPr>
      </p:sp>
      <p:sp>
        <p:nvSpPr>
          <p:cNvPr id="15" name="Text 12"/>
          <p:cNvSpPr/>
          <p:nvPr/>
        </p:nvSpPr>
        <p:spPr>
          <a:xfrm>
            <a:off x="3474720" y="4133088"/>
            <a:ext cx="7894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ตรวจสอบ / รายงาน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3474720" y="4489704"/>
            <a:ext cx="7894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ตรวจสอบเปิดงาน · ตรวจสอบปิดงาน · รายงานสถานะดำเนินการ · ไฟล์ผู้รับเหมาส่งกลับ · งานที่เสร็จสิ้น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00400" y="5266944"/>
            <a:ext cx="8442655" cy="914400"/>
          </a:xfrm>
          <a:prstGeom prst="roundRect">
            <a:avLst>
              <a:gd name="adj" fmla="val 9000"/>
            </a:avLst>
          </a:prstGeom>
          <a:solidFill>
            <a:srgbClr val="DCFCE7"/>
          </a:solidFill>
          <a:ln/>
        </p:spPr>
      </p:sp>
      <p:sp>
        <p:nvSpPr>
          <p:cNvPr id="18" name="Shape 15"/>
          <p:cNvSpPr/>
          <p:nvPr/>
        </p:nvSpPr>
        <p:spPr>
          <a:xfrm>
            <a:off x="3438144" y="5513832"/>
            <a:ext cx="420624" cy="420624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9" name="Image 1" descr="/tmp/cp9x_deck/g_eyeoff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919" y="5631607"/>
            <a:ext cx="185075" cy="18507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986784" y="5376672"/>
            <a:ext cx="741852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เมนู "ฟอร์มวางบิล" ไม่ปรากฏในบัญชีแอดมิน เพราะเป็นหน้าสำหรับผู้รับเหมาส่งไฟล์กลับโดยเฉพาะ — แอดมินใช้เมนู "ไฟล์ผู้รับเหมาส่งกลับ" ตรวจแทน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· คู่มือฝั่งแอดมิน — เปิดงาน ปิดงาน พักงาน วางบิล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11002975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เปิดงาน · ขั้นที่ 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วางข้อความใบแจ้งซ่อม ให้ระบบแยกลงฟอร์มเอง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814255" y="402336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</p:sp>
      <p:sp>
        <p:nvSpPr>
          <p:cNvPr id="5" name="Text 3"/>
          <p:cNvSpPr/>
          <p:nvPr/>
        </p:nvSpPr>
        <p:spPr>
          <a:xfrm>
            <a:off x="9814255" y="40233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ฝั่งแอดมิน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3776" y="1411590"/>
            <a:ext cx="7808976" cy="339474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  <a:effectLst>
            <a:outerShdw sx="100000" sy="100000" kx="0" ky="0" algn="bl" rotWithShape="0" blurRad="127000" dist="635" dir="5400000">
              <a:srgbClr val="9AA8A0">
                <a:alpha val="45000"/>
              </a:srgbClr>
            </a:outerShdw>
          </a:effectLst>
        </p:spPr>
      </p:sp>
      <p:pic>
        <p:nvPicPr>
          <p:cNvPr id="7" name="Image 0" descr="/tmp/cp9x_shots/a1-open-pa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6454"/>
            <a:ext cx="7699248" cy="32850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03920" y="169164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6"/>
          <p:cNvSpPr/>
          <p:nvPr/>
        </p:nvSpPr>
        <p:spPr>
          <a:xfrm>
            <a:off x="8723376" y="1536192"/>
            <a:ext cx="29196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คัดลอกข้อความใบแจ้งซ่อมจากต้นทาง มาวางในช่อง "ช่องวางข้อความด่วน (Auto-Parse)"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503920" y="2478024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8"/>
          <p:cNvSpPr/>
          <p:nvPr/>
        </p:nvSpPr>
        <p:spPr>
          <a:xfrm>
            <a:off x="8723376" y="2322576"/>
            <a:ext cx="29196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กด "แยกข้อมูลลงฟอร์ม" ระบบจะเติมช่องด้านล่างให้อัตโนมัติ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503920" y="3264408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0"/>
          <p:cNvSpPr/>
          <p:nvPr/>
        </p:nvSpPr>
        <p:spPr>
          <a:xfrm>
            <a:off x="8723376" y="3108960"/>
            <a:ext cx="29196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กด "ล้างข้อความ" เพื่อเคลียร์ช่องแล้ววางใหม่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503920" y="3877056"/>
            <a:ext cx="3139135" cy="914400"/>
          </a:xfrm>
          <a:prstGeom prst="roundRect">
            <a:avLst>
              <a:gd name="adj" fmla="val 9000"/>
            </a:avLst>
          </a:prstGeom>
          <a:solidFill>
            <a:srgbClr val="DCFCE7"/>
          </a:solidFill>
          <a:ln/>
        </p:spPr>
      </p:sp>
      <p:sp>
        <p:nvSpPr>
          <p:cNvPr id="15" name="Shape 12"/>
          <p:cNvSpPr/>
          <p:nvPr/>
        </p:nvSpPr>
        <p:spPr>
          <a:xfrm>
            <a:off x="8741664" y="4123944"/>
            <a:ext cx="420624" cy="420624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6" name="Image 1" descr="/tmp/cp9x_deck/g_inf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9439" y="4241719"/>
            <a:ext cx="185075" cy="18507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290304" y="3986784"/>
            <a:ext cx="211500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ขั้นตอนนี้ไม่บังคับ — จะพิมพ์ลงฟอร์มเองทีละช่องก็ได้ผลเหมือนกัน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5029200"/>
            <a:ext cx="11094415" cy="731520"/>
          </a:xfrm>
          <a:prstGeom prst="roundRect">
            <a:avLst>
              <a:gd name="adj" fmla="val 11250"/>
            </a:avLst>
          </a:prstGeom>
          <a:solidFill>
            <a:srgbClr val="DCFCE7"/>
          </a:solidFill>
          <a:ln/>
        </p:spPr>
      </p:sp>
      <p:sp>
        <p:nvSpPr>
          <p:cNvPr id="19" name="Shape 15"/>
          <p:cNvSpPr/>
          <p:nvPr/>
        </p:nvSpPr>
        <p:spPr>
          <a:xfrm>
            <a:off x="786384" y="5184648"/>
            <a:ext cx="420624" cy="420624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0" name="Image 2" descr="/tmp/cp9x_deck/g_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159" y="5302423"/>
            <a:ext cx="185075" cy="18507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35024" y="5138928"/>
            <a:ext cx="1007028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ตรวจข้อมูลที่ระบบแยกให้อีกครั้งเสมอ ก่อนกดบันทึก — โดยเฉพาะเลขที่ใบแจ้งซ่อมบำรุงและรหัสสาขา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· คู่มือฝั่งแอดมิน — เปิดงาน ปิดงาน พักงาน วางบิล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11002975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เปิดงาน · ขั้นที่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ตรวจและกรอกฟอร์ม "ข้อมูลเปิดงาน"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814255" y="402336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</p:sp>
      <p:sp>
        <p:nvSpPr>
          <p:cNvPr id="5" name="Text 3"/>
          <p:cNvSpPr/>
          <p:nvPr/>
        </p:nvSpPr>
        <p:spPr>
          <a:xfrm>
            <a:off x="9814255" y="40233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ฝั่งแอดมิน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6229" y="1408176"/>
            <a:ext cx="7804069" cy="4315968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  <a:effectLst>
            <a:outerShdw sx="100000" sy="100000" kx="0" ky="0" algn="bl" rotWithShape="0" blurRad="127000" dist="635" dir="5400000">
              <a:srgbClr val="9AA8A0">
                <a:alpha val="45000"/>
              </a:srgbClr>
            </a:outerShdw>
          </a:effectLst>
        </p:spPr>
      </p:sp>
      <p:pic>
        <p:nvPicPr>
          <p:cNvPr id="7" name="Image 0" descr="/tmp/cp9x_shots/a2-open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093" y="1463040"/>
            <a:ext cx="7694341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0" y="1481328"/>
            <a:ext cx="3139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ช่องที่ต้องกรอก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503920" y="1965960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" name="Text 7"/>
          <p:cNvSpPr/>
          <p:nvPr/>
        </p:nvSpPr>
        <p:spPr>
          <a:xfrm>
            <a:off x="8723376" y="1810512"/>
            <a:ext cx="29196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ผู้รับเหมา  (บังคับ)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503920" y="2441448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9"/>
          <p:cNvSpPr/>
          <p:nvPr/>
        </p:nvSpPr>
        <p:spPr>
          <a:xfrm>
            <a:off x="8723376" y="2286000"/>
            <a:ext cx="29196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เลขที่ใบแจ้งซ่อมบำรุง  (บังคับ)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503920" y="2916936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" name="Text 11"/>
          <p:cNvSpPr/>
          <p:nvPr/>
        </p:nvSpPr>
        <p:spPr>
          <a:xfrm>
            <a:off x="8723376" y="2761488"/>
            <a:ext cx="29196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Type  (บังคับ)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503920" y="3392424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3"/>
          <p:cNvSpPr/>
          <p:nvPr/>
        </p:nvSpPr>
        <p:spPr>
          <a:xfrm>
            <a:off x="8723376" y="3236976"/>
            <a:ext cx="29196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ประเภทสัญญา · วันที่ร้องขอ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503920" y="3867912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5"/>
          <p:cNvSpPr/>
          <p:nvPr/>
        </p:nvSpPr>
        <p:spPr>
          <a:xfrm>
            <a:off x="8723376" y="3712464"/>
            <a:ext cx="29196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งานบริการ · Service Issue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503920" y="434340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0" name="Text 17"/>
          <p:cNvSpPr/>
          <p:nvPr/>
        </p:nvSpPr>
        <p:spPr>
          <a:xfrm>
            <a:off x="8723376" y="4187952"/>
            <a:ext cx="29196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รหัสสาขา · รายละเอียดปัญหาที่พบ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503920" y="4809744"/>
            <a:ext cx="313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ระบบเติมให้เอง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503920" y="525780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3" name="Text 20"/>
          <p:cNvSpPr/>
          <p:nvPr/>
        </p:nvSpPr>
        <p:spPr>
          <a:xfrm>
            <a:off x="8723376" y="5102352"/>
            <a:ext cx="29196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ชื่อสาขา — ดึงจากรหัสสาขา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503920" y="5660136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2"/>
          <p:cNvSpPr/>
          <p:nvPr/>
        </p:nvSpPr>
        <p:spPr>
          <a:xfrm>
            <a:off x="8723376" y="5504688"/>
            <a:ext cx="29196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วันเวลาที่เปิดงาน — เวลาไทยปัจจุบัน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· คู่มือฝั่งแอดมิน — เปิดงาน ปิดงาน พักงาน วางบิล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1002975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เปิดงาน · กฎของระบบ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สามอย่างที่ระบบตรวจให้อัตโนมัติ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814255" y="402336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</p:sp>
      <p:sp>
        <p:nvSpPr>
          <p:cNvPr id="5" name="Text 3"/>
          <p:cNvSpPr/>
          <p:nvPr/>
        </p:nvSpPr>
        <p:spPr>
          <a:xfrm>
            <a:off x="9814255" y="40233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ฝั่งแอดมิน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00784"/>
            <a:ext cx="3547872" cy="2743200"/>
          </a:xfrm>
          <a:prstGeom prst="roundRect">
            <a:avLst>
              <a:gd name="adj" fmla="val 3333"/>
            </a:avLst>
          </a:prstGeom>
          <a:solidFill>
            <a:srgbClr val="F1F5F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975104"/>
            <a:ext cx="548640" cy="54864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8" name="Image 0" descr="/tmp/cp9x_deck/g_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867" y="2128723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2633472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กันเปิดงานซ้ำ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41248" y="3072384"/>
            <a:ext cx="2962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พิมพ์ "เลขที่ใบแจ้งซ่อมบำรุง" เสร็จแล้วคลิกออกจากช่อง ระบบจะเช็คทันที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ถ้าเคยเปิดไปแล้ว จะขึ้นข้อความสีแดงว่า "เลขที่งานนี้ถูกเปิดงานไปแล้ว ห้ามเปิดซ้ำ" และห้ามบันทึก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07408" y="1700784"/>
            <a:ext cx="3547872" cy="2743200"/>
          </a:xfrm>
          <a:prstGeom prst="roundRect">
            <a:avLst>
              <a:gd name="adj" fmla="val 3333"/>
            </a:avLst>
          </a:prstGeom>
          <a:solidFill>
            <a:srgbClr val="F1F5F3"/>
          </a:solidFill>
          <a:ln/>
        </p:spPr>
      </p:sp>
      <p:sp>
        <p:nvSpPr>
          <p:cNvPr id="12" name="Shape 9"/>
          <p:cNvSpPr/>
          <p:nvPr/>
        </p:nvSpPr>
        <p:spPr>
          <a:xfrm>
            <a:off x="4700016" y="1975104"/>
            <a:ext cx="548640" cy="54864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13" name="Image 1" descr="/tmp/cp9x_deck/g_mapp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635" y="2128723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00016" y="2633472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ค้นชื่อสาขาอัตโนมัติ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700016" y="3072384"/>
            <a:ext cx="2962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กรอก "รหัสสาขา" แล้วคลิกออกจากช่อง ระบบจะเติม "ชื่อสาขา" ให้เอง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ช่องชื่อสาขาเป็นแบบอ่านอย่างเดียว พิมพ์ทับเองไม่ได้ เพื่อกันชื่อสาขาไม่ตรงกับรหัส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266176" y="1700784"/>
            <a:ext cx="3547872" cy="2743200"/>
          </a:xfrm>
          <a:prstGeom prst="roundRect">
            <a:avLst>
              <a:gd name="adj" fmla="val 3333"/>
            </a:avLst>
          </a:prstGeom>
          <a:solidFill>
            <a:srgbClr val="F1F5F3"/>
          </a:solidFill>
          <a:ln/>
        </p:spPr>
      </p:sp>
      <p:sp>
        <p:nvSpPr>
          <p:cNvPr id="17" name="Shape 13"/>
          <p:cNvSpPr/>
          <p:nvPr/>
        </p:nvSpPr>
        <p:spPr>
          <a:xfrm>
            <a:off x="8558784" y="1975104"/>
            <a:ext cx="548640" cy="54864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18" name="Image 2" descr="/tmp/cp9x_deck/g_ta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2403" y="2128723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58784" y="2633472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ประเภทสัญญา 3 แบบ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8558784" y="3072384"/>
            <a:ext cx="2962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เลือกจากรายการที่กำหนดไว้เท่านั้น: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 Warranty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Service Turnkey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Service Contract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มีผลต่อการคิดเงินในรอบบิลภายหลัง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4846320"/>
            <a:ext cx="11094415" cy="82296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/>
        </p:spPr>
      </p:sp>
      <p:sp>
        <p:nvSpPr>
          <p:cNvPr id="22" name="Shape 17"/>
          <p:cNvSpPr/>
          <p:nvPr/>
        </p:nvSpPr>
        <p:spPr>
          <a:xfrm>
            <a:off x="786384" y="5047488"/>
            <a:ext cx="420624" cy="420624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3" name="Image 3" descr="/tmp/cp9x_deck/g_clo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159" y="5165263"/>
            <a:ext cx="185075" cy="18507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35024" y="4956048"/>
            <a:ext cx="1007028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"วันเวลาที่เปิดงาน" ตั้งเป็นเวลาไทยปัจจุบันให้อัตโนมัติทุกครั้งที่เข้าแท็บนี้ แก้เป็นเวลาย้อนหลังได้ถ้าต้องการบันทึกงานที่เกิดขึ้นก่อนหน้า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· คู่มือฝั่งแอดมิน — เปิดงาน ปิดงาน พักงาน วางบิล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1002975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ปิดงาน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บันทึกผลการเข้าแก้ไข แล้วปิดงาน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814255" y="402336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</p:sp>
      <p:sp>
        <p:nvSpPr>
          <p:cNvPr id="5" name="Text 3"/>
          <p:cNvSpPr/>
          <p:nvPr/>
        </p:nvSpPr>
        <p:spPr>
          <a:xfrm>
            <a:off x="9814255" y="40233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ฝั่งแอดมิน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3776" y="1458163"/>
            <a:ext cx="7808976" cy="4215994"/>
          </a:xfrm>
          <a:prstGeom prst="roundRect">
            <a:avLst>
              <a:gd name="adj" fmla="val 1301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  <a:effectLst>
            <a:outerShdw sx="100000" sy="100000" kx="0" ky="0" algn="bl" rotWithShape="0" blurRad="127000" dist="635" dir="5400000">
              <a:srgbClr val="9AA8A0">
                <a:alpha val="45000"/>
              </a:srgbClr>
            </a:outerShdw>
          </a:effectLst>
        </p:spPr>
      </p:sp>
      <p:pic>
        <p:nvPicPr>
          <p:cNvPr id="7" name="Image 0" descr="/tmp/cp9x_shots/a3-close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3027"/>
            <a:ext cx="7699248" cy="410626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03920" y="1636776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9" name="Text 6"/>
          <p:cNvSpPr/>
          <p:nvPr/>
        </p:nvSpPr>
        <p:spPr>
          <a:xfrm>
            <a:off x="8723376" y="1481328"/>
            <a:ext cx="29196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"เลขงาน" เป็นช่องบังคับ ระบบเช็คให้ว่าเคยเปิดงานไว้หรือยัง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503920" y="2350008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8"/>
          <p:cNvSpPr/>
          <p:nvPr/>
        </p:nvSpPr>
        <p:spPr>
          <a:xfrm>
            <a:off x="8723376" y="2194560"/>
            <a:ext cx="29196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"เลขทรัพย์สิน" รับเฉพาะตัวเลข 12 หลัก ระบบตัดอักขระอื่นทิ้งทันทีที่พิมพ์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503920" y="306324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0"/>
          <p:cNvSpPr/>
          <p:nvPr/>
        </p:nvSpPr>
        <p:spPr>
          <a:xfrm>
            <a:off x="8723376" y="2907792"/>
            <a:ext cx="29196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"รายการอะไหล่ที่เปลี่ยน" กดปุ่ม "เพิ่มรายการอะไหล่" เพิ่มได้หลายแถว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503920" y="3776472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5" name="Text 12"/>
          <p:cNvSpPr/>
          <p:nvPr/>
        </p:nvSpPr>
        <p:spPr>
          <a:xfrm>
            <a:off x="8723376" y="3621024"/>
            <a:ext cx="29196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"ดำเนินการ" คือสรุปสิ่งที่ช่างทำจริงหน้างาน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503920" y="4489704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7" name="Text 14"/>
          <p:cNvSpPr/>
          <p:nvPr/>
        </p:nvSpPr>
        <p:spPr>
          <a:xfrm>
            <a:off x="8723376" y="4334256"/>
            <a:ext cx="29196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"วันเวลาที่ปิดงาน" ใช้คำนวณระยะเวลาดำเนินการในรายงานและแดชบอร์ด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5669280"/>
            <a:ext cx="11094415" cy="566928"/>
          </a:xfrm>
          <a:prstGeom prst="roundRect">
            <a:avLst>
              <a:gd name="adj" fmla="val 14516"/>
            </a:avLst>
          </a:prstGeom>
          <a:solidFill>
            <a:srgbClr val="DCFCE7"/>
          </a:solidFill>
          <a:ln/>
        </p:spPr>
      </p:sp>
      <p:sp>
        <p:nvSpPr>
          <p:cNvPr id="19" name="Shape 16"/>
          <p:cNvSpPr/>
          <p:nvPr/>
        </p:nvSpPr>
        <p:spPr>
          <a:xfrm>
            <a:off x="786384" y="5742432"/>
            <a:ext cx="420624" cy="420624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0" name="Image 1" descr="/tmp/cp9x_deck/g_inf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59" y="5860207"/>
            <a:ext cx="185075" cy="18507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335024" y="5779008"/>
            <a:ext cx="1007028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เลขงาน ปิดได้หลายครั้ง ถ้าเป็นทรัพย์สินคนละชิ้น — ให้ระบุ "เลขทรัพย์สิน" ให้ต่างกัน ระบบจึงจะไม่นับว่าปิดซ้ำ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· คู่มือฝั่งแอดมิน — เปิดงาน ปิดงาน พักงาน วางบิล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11002975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จุดที่มักเข้าใจผิด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ฟอร์มปิดงาน คือสิ่งที่กำหนดว่างานจะเข้ารอบบิลหรือไม่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14255" y="402336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5" name="Text 3"/>
          <p:cNvSpPr/>
          <p:nvPr/>
        </p:nvSpPr>
        <p:spPr>
          <a:xfrm>
            <a:off x="9814255" y="40233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ฝั่งแอดมิน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10944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ช่อง "วันที่เข้าแก้ไข" ในฟอร์มปิดงาน คือช่องเดียวกับที่ตารางวางบิลใช้กรองงานเข้ารอบบิล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249424"/>
            <a:ext cx="3547872" cy="2048256"/>
          </a:xfrm>
          <a:prstGeom prst="roundRect">
            <a:avLst>
              <a:gd name="adj" fmla="val 4464"/>
            </a:avLst>
          </a:prstGeom>
          <a:solidFill>
            <a:srgbClr val="0E3D21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2523744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9" name="Image 0" descr="/tmp/cp9x_deck/g_calendar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867" y="2677363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" y="3182112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กรอกวันที่ให้ถูก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41248" y="3621024"/>
            <a:ext cx="2962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5D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 "วันที่เข้าแก้ไข" ผิด งานจะไปโผล่ผิดรอบบิล หรือหลุดออกจากรอบที่ควรอยู่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07408" y="2249424"/>
            <a:ext cx="3547872" cy="2048256"/>
          </a:xfrm>
          <a:prstGeom prst="roundRect">
            <a:avLst>
              <a:gd name="adj" fmla="val 4464"/>
            </a:avLst>
          </a:prstGeom>
          <a:solidFill>
            <a:srgbClr val="0E3D21"/>
          </a:solidFill>
          <a:ln/>
        </p:spPr>
      </p:sp>
      <p:sp>
        <p:nvSpPr>
          <p:cNvPr id="13" name="Shape 10"/>
          <p:cNvSpPr/>
          <p:nvPr/>
        </p:nvSpPr>
        <p:spPr>
          <a:xfrm>
            <a:off x="4700016" y="2523744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4" name="Image 1" descr="/tmp/cp9x_deck/g_xcircl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635" y="2677363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00016" y="3182112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งานที่ยังไม่ปิด = ไม่เข้าบิล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4700016" y="3621024"/>
            <a:ext cx="2962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5D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ตารางวางบิลดึงเฉพาะงานที่ผ่านการปิดงานแล้วเท่านั้น งานที่ยังค้างจะไม่ถูกนับ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266176" y="2249424"/>
            <a:ext cx="3547872" cy="2048256"/>
          </a:xfrm>
          <a:prstGeom prst="roundRect">
            <a:avLst>
              <a:gd name="adj" fmla="val 4464"/>
            </a:avLst>
          </a:prstGeom>
          <a:solidFill>
            <a:srgbClr val="0E3D21"/>
          </a:solidFill>
          <a:ln/>
        </p:spPr>
      </p:sp>
      <p:sp>
        <p:nvSpPr>
          <p:cNvPr id="18" name="Shape 14"/>
          <p:cNvSpPr/>
          <p:nvPr/>
        </p:nvSpPr>
        <p:spPr>
          <a:xfrm>
            <a:off x="8558784" y="2523744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9" name="Image 2" descr="/tmp/cp9x_deck/g_inbox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2403" y="2677363"/>
            <a:ext cx="241402" cy="2414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58784" y="3182112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งานตกค้างยังตามเก็บได้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8558784" y="3621024"/>
            <a:ext cx="2962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5D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งานที่ปิดก่อนวันเริ่มรอบแต่ยังไม่เคยออกบิล ให้ติ๊ก "รวมงานตกค้าง" ระบบจะดึงมาให้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4892040"/>
            <a:ext cx="11094415" cy="841248"/>
          </a:xfrm>
          <a:prstGeom prst="roundRect">
            <a:avLst>
              <a:gd name="adj" fmla="val 9783"/>
            </a:avLst>
          </a:prstGeom>
          <a:solidFill>
            <a:srgbClr val="0E3D21"/>
          </a:solidFill>
          <a:ln/>
        </p:spPr>
      </p:sp>
      <p:sp>
        <p:nvSpPr>
          <p:cNvPr id="23" name="Shape 18"/>
          <p:cNvSpPr/>
          <p:nvPr/>
        </p:nvSpPr>
        <p:spPr>
          <a:xfrm>
            <a:off x="786384" y="5102352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4" name="Image 3" descr="/tmp/cp9x_deck/g_warning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159" y="5220127"/>
            <a:ext cx="185075" cy="18507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35024" y="5001768"/>
            <a:ext cx="1007028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ลำดับที่ถูกต้องคือ เปิดงาน → ปิดงาน → จึงจะวางบิลได้ ถ้าข้ามขั้นตอนปิดงาน งานนั้นจะไม่มีวันปรากฏในตารางวางบิล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· คู่มือฝั่งแอดมิน — เปิดงาน ปิดงาน พักงาน วางบิล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1002975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พักงาน · แท็บ "พักงาน"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บันทึกพักงาน เมื่องานต้องหยุดรอ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814255" y="402336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</p:sp>
      <p:sp>
        <p:nvSpPr>
          <p:cNvPr id="5" name="Text 3"/>
          <p:cNvSpPr/>
          <p:nvPr/>
        </p:nvSpPr>
        <p:spPr>
          <a:xfrm>
            <a:off x="9814255" y="40233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ฝั่งแอดมิน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3776" y="1500835"/>
            <a:ext cx="7150608" cy="4240378"/>
          </a:xfrm>
          <a:prstGeom prst="roundRect">
            <a:avLst>
              <a:gd name="adj" fmla="val 1294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  <a:effectLst>
            <a:outerShdw sx="100000" sy="100000" kx="0" ky="0" algn="bl" rotWithShape="0" blurRad="127000" dist="635" dir="5400000">
              <a:srgbClr val="9AA8A0">
                <a:alpha val="45000"/>
              </a:srgbClr>
            </a:outerShdw>
          </a:effectLst>
        </p:spPr>
      </p:sp>
      <p:pic>
        <p:nvPicPr>
          <p:cNvPr id="7" name="Image 0" descr="/tmp/cp9x_shots/a4-pause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5699"/>
            <a:ext cx="7040880" cy="41306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0" y="1481328"/>
            <a:ext cx="3779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หน้านี้มี 3 แท็บ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863840" y="1947672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7"/>
          <p:cNvSpPr/>
          <p:nvPr/>
        </p:nvSpPr>
        <p:spPr>
          <a:xfrm>
            <a:off x="8083296" y="1792224"/>
            <a:ext cx="3559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งานที่พักอยู่ — รายการที่ยังพักค้าง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63840" y="2350008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9"/>
          <p:cNvSpPr/>
          <p:nvPr/>
        </p:nvSpPr>
        <p:spPr>
          <a:xfrm>
            <a:off x="8083296" y="2194560"/>
            <a:ext cx="3559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พักงาน — ฟอร์มในภาพนี้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63840" y="2752344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11"/>
          <p:cNvSpPr/>
          <p:nvPr/>
        </p:nvSpPr>
        <p:spPr>
          <a:xfrm>
            <a:off x="8083296" y="2596896"/>
            <a:ext cx="3559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ประวัติการพัก — ย้อนดูรายเลขงาน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863840" y="3127248"/>
            <a:ext cx="3779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ช่องสำคัญ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863840" y="3593592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8083296" y="3438144"/>
            <a:ext cx="3559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เลขที่ใบแจ้งซ่อมบำรุง (บังคับ)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863840" y="4160520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8083296" y="4005072"/>
            <a:ext cx="355975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เหตุผลที่พักงาน (บังคับ) เช่น รออะไหล่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863840" y="4727448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8"/>
          <p:cNvSpPr/>
          <p:nvPr/>
        </p:nvSpPr>
        <p:spPr>
          <a:xfrm>
            <a:off x="8083296" y="4572000"/>
            <a:ext cx="3559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สาเหตุที่ตรวจพบ และ รายการที่ขออนุมัติ พิมพ์ได้หลายบรรทัด บรรทัดละ 1 ข้อ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863840" y="5230368"/>
            <a:ext cx="3779215" cy="658368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1584" y="5349240"/>
            <a:ext cx="420624" cy="420624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4" name="Image 1" descr="/tmp/cp9x_deck/g_z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359" y="5467015"/>
            <a:ext cx="185075" cy="18507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650224" y="5340096"/>
            <a:ext cx="275508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แท็บนี้มีช่อง Auto-Parse เหมือนหน้าเปิดงาน วางข้อความขออนุมัติได้เลย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· คู่มือฝั่งแอดมิน — เปิดงาน ปิดงาน พักงาน วางบิล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11002975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พักงาน · แท็บ "งานที่พักอยู่"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ติดตามงานที่ค้าง และปลดพักเมื่อพร้อมทำต่อ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814255" y="402336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</p:sp>
      <p:sp>
        <p:nvSpPr>
          <p:cNvPr id="5" name="Text 3"/>
          <p:cNvSpPr/>
          <p:nvPr/>
        </p:nvSpPr>
        <p:spPr>
          <a:xfrm>
            <a:off x="9814255" y="40233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ฝั่งแอดมิน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10650" y="1426464"/>
            <a:ext cx="6367653" cy="2779776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  <a:effectLst>
            <a:outerShdw sx="100000" sy="100000" kx="0" ky="0" algn="bl" rotWithShape="0" blurRad="127000" dist="635" dir="5400000">
              <a:srgbClr val="9AA8A0">
                <a:alpha val="45000"/>
              </a:srgbClr>
            </a:outerShdw>
          </a:effectLst>
        </p:spPr>
      </p:sp>
      <p:pic>
        <p:nvPicPr>
          <p:cNvPr id="7" name="Image 0" descr="/tmp/cp9x_shots/a5-pause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5514" y="1481328"/>
            <a:ext cx="6257925" cy="26700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4370832"/>
            <a:ext cx="3547872" cy="1737360"/>
          </a:xfrm>
          <a:prstGeom prst="roundRect">
            <a:avLst>
              <a:gd name="adj" fmla="val 5263"/>
            </a:avLst>
          </a:prstGeom>
          <a:solidFill>
            <a:srgbClr val="F1F5F3"/>
          </a:solidFill>
          <a:ln/>
        </p:spPr>
      </p:sp>
      <p:sp>
        <p:nvSpPr>
          <p:cNvPr id="9" name="Shape 6"/>
          <p:cNvSpPr/>
          <p:nvPr/>
        </p:nvSpPr>
        <p:spPr>
          <a:xfrm>
            <a:off x="841248" y="4645152"/>
            <a:ext cx="548640" cy="54864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10" name="Image 1" descr="/tmp/cp9x_deck/g_refres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" y="4798771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" y="530352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โหลด/รีเฟรชข้อมูล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841248" y="5742432"/>
            <a:ext cx="2962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ต้องกดปุ่มนี้ก่อน รายการจึงจะขึ้น และใช้ช่องค้นหากรองด้วยเลขงาน สาขา หรือสาเหตุได้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407408" y="4370832"/>
            <a:ext cx="3547872" cy="1737360"/>
          </a:xfrm>
          <a:prstGeom prst="roundRect">
            <a:avLst>
              <a:gd name="adj" fmla="val 5263"/>
            </a:avLst>
          </a:prstGeom>
          <a:solidFill>
            <a:srgbClr val="F1F5F3"/>
          </a:solidFill>
          <a:ln/>
        </p:spPr>
      </p:sp>
      <p:sp>
        <p:nvSpPr>
          <p:cNvPr id="14" name="Shape 10"/>
          <p:cNvSpPr/>
          <p:nvPr/>
        </p:nvSpPr>
        <p:spPr>
          <a:xfrm>
            <a:off x="4700016" y="4645152"/>
            <a:ext cx="548640" cy="54864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15" name="Image 2" descr="/tmp/cp9x_deck/g_edi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635" y="4798771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00016" y="530352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ปุ่ม "แก้ไข"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700016" y="5742432"/>
            <a:ext cx="2962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แก้ข้อมูลระหว่างพักได้ทั้งสาเหตุ รายการที่ขออนุมัติ และหมายเหตุ — แต่ "เหตุผลที่พักงาน" ห้ามเว้นว่าง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266176" y="4370832"/>
            <a:ext cx="3547872" cy="1737360"/>
          </a:xfrm>
          <a:prstGeom prst="roundRect">
            <a:avLst>
              <a:gd name="adj" fmla="val 5263"/>
            </a:avLst>
          </a:prstGeom>
          <a:solidFill>
            <a:srgbClr val="F1F5F3"/>
          </a:solidFill>
          <a:ln/>
        </p:spPr>
      </p:sp>
      <p:sp>
        <p:nvSpPr>
          <p:cNvPr id="19" name="Shape 14"/>
          <p:cNvSpPr/>
          <p:nvPr/>
        </p:nvSpPr>
        <p:spPr>
          <a:xfrm>
            <a:off x="8558784" y="4645152"/>
            <a:ext cx="548640" cy="54864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20" name="Image 3" descr="/tmp/cp9x_deck/g_play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403" y="4798771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58784" y="530352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ปุ่ม "กลับมาทำงาน"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8558784" y="5742432"/>
            <a:ext cx="2962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ปลดพักงานให้กลับมาดำเนินการต่อ ระบบถามยืนยันก่อนเสมอ แล้วบันทึกชื่อผู้ปลดพักไว้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· คู่มือฝั่งแอดมิน — เปิดงาน ปิดงาน พักงาน วางบิล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11002975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วางบิล · หน้าจอหลัก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ตารางวางบิล — มุมมองของแอดมิน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814255" y="402336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</p:sp>
      <p:sp>
        <p:nvSpPr>
          <p:cNvPr id="5" name="Text 3"/>
          <p:cNvSpPr/>
          <p:nvPr/>
        </p:nvSpPr>
        <p:spPr>
          <a:xfrm>
            <a:off x="9814255" y="40233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ฝั่งแอดมิน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3776" y="1411529"/>
            <a:ext cx="7013448" cy="4620158"/>
          </a:xfrm>
          <a:prstGeom prst="roundRect">
            <a:avLst>
              <a:gd name="adj" fmla="val 1187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  <a:effectLst>
            <a:outerShdw sx="100000" sy="100000" kx="0" ky="0" algn="bl" rotWithShape="0" blurRad="127000" dist="635" dir="5400000">
              <a:srgbClr val="9AA8A0">
                <a:alpha val="45000"/>
              </a:srgbClr>
            </a:outerShdw>
          </a:effectLst>
        </p:spPr>
      </p:sp>
      <p:pic>
        <p:nvPicPr>
          <p:cNvPr id="7" name="Image 0" descr="/tmp/cp9x_shots/a6-bil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6393"/>
            <a:ext cx="6903720" cy="451043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636776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6"/>
          <p:cNvSpPr/>
          <p:nvPr/>
        </p:nvSpPr>
        <p:spPr>
          <a:xfrm>
            <a:off x="7946136" y="1481328"/>
            <a:ext cx="36969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"กรองตามผู้รับเหมา" เลือกดูบิลรวมทุกราย หรือแยกทีละราย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26680" y="2368296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8"/>
          <p:cNvSpPr/>
          <p:nvPr/>
        </p:nvSpPr>
        <p:spPr>
          <a:xfrm>
            <a:off x="7946136" y="2212848"/>
            <a:ext cx="36969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"กรองตามรอบบิล" เลือกรอบใดรอบหนึ่งเพื่อดูข้อมูลย้อนหลังของรอบนั้น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726680" y="3099816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0"/>
          <p:cNvSpPr/>
          <p:nvPr/>
        </p:nvSpPr>
        <p:spPr>
          <a:xfrm>
            <a:off x="7946136" y="2944368"/>
            <a:ext cx="36969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กล่องเงื่อนไข: ใส่ช่วง "วันที่เข้าแก้ไข" ทั้ง 2 ช่อง หรือ ระบุเลขงานเจาะจง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726680" y="3831336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5" name="Text 12"/>
          <p:cNvSpPr/>
          <p:nvPr/>
        </p:nvSpPr>
        <p:spPr>
          <a:xfrm>
            <a:off x="7946136" y="3675888"/>
            <a:ext cx="36969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ติ๊ก "รวมงานตกค้าง" เพื่อดึงงานที่ปิดก่อนวันเริ่มรอบแต่ยังไม่เคยออกบิล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726680" y="4535424"/>
            <a:ext cx="3916375" cy="1133856"/>
          </a:xfrm>
          <a:prstGeom prst="roundRect">
            <a:avLst>
              <a:gd name="adj" fmla="val 7258"/>
            </a:avLst>
          </a:prstGeom>
          <a:solidFill>
            <a:srgbClr val="FDECEC"/>
          </a:solidFill>
          <a:ln/>
        </p:spPr>
      </p:sp>
      <p:sp>
        <p:nvSpPr>
          <p:cNvPr id="17" name="Shape 14"/>
          <p:cNvSpPr/>
          <p:nvPr/>
        </p:nvSpPr>
        <p:spPr>
          <a:xfrm>
            <a:off x="7964424" y="4892040"/>
            <a:ext cx="420624" cy="420624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8" name="Image 1" descr="/tmp/cp9x_deck/g_warn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2199" y="5009815"/>
            <a:ext cx="185075" cy="18507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513064" y="4645152"/>
            <a:ext cx="289224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เลือกอย่างใดอย่างหนึ่งเท่านั้น — ถ้าใส่เลขงานไว้ ระบบจะจับคู่แค่เลขงานนั้น และไม่สนใจช่วงวันที่ที่กรอกไว้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· คู่มือฝั่งแอดมิน — เปิดงาน ปิดงาน พักงาน วางบิล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11002975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วางบิล · ลำดับการทำงาน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ออกรอบบิลและส่งให้ผู้รับเหมา 5 ขั้นตอน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814255" y="402336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</p:sp>
      <p:sp>
        <p:nvSpPr>
          <p:cNvPr id="5" name="Text 3"/>
          <p:cNvSpPr/>
          <p:nvPr/>
        </p:nvSpPr>
        <p:spPr>
          <a:xfrm>
            <a:off x="9814255" y="40233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ฝั่งแอดมิน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3776" y="1405832"/>
            <a:ext cx="11201400" cy="1321423"/>
          </a:xfrm>
          <a:prstGeom prst="roundRect">
            <a:avLst>
              <a:gd name="adj" fmla="val 4152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  <a:effectLst>
            <a:outerShdw sx="100000" sy="100000" kx="0" ky="0" algn="bl" rotWithShape="0" blurRad="127000" dist="635" dir="5400000">
              <a:srgbClr val="9AA8A0">
                <a:alpha val="45000"/>
              </a:srgbClr>
            </a:outerShdw>
          </a:effectLst>
        </p:spPr>
      </p:sp>
      <p:pic>
        <p:nvPicPr>
          <p:cNvPr id="7" name="Image 0" descr="/tmp/cp9x_shots/crop-billing-buttons-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0696"/>
            <a:ext cx="11091672" cy="12116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999232"/>
            <a:ext cx="475488" cy="47548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999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07008" y="2962656"/>
            <a:ext cx="470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ตั้งเงื่อนไข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07008" y="3255264"/>
            <a:ext cx="470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เลือกผู้รับเหมา แล้วใส่ช่วงวันที่เข้าแก้ไข หรือระบุเลขงานเจาะจง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4041648"/>
            <a:ext cx="475488" cy="47548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4041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07008" y="4005072"/>
            <a:ext cx="470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ดูตัวอย่างก่อนบันทึกรอบบิล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207008" y="4297680"/>
            <a:ext cx="470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ตรวจรายการที่ระบบจับคู่มาได้ ก่อนยืนยันบันทึกจริง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5084064"/>
            <a:ext cx="475488" cy="47548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5084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07008" y="5047488"/>
            <a:ext cx="470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บันทึกข้อมูลทั้งหมด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07008" y="5340096"/>
            <a:ext cx="470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บันทึกราคา อะไหล่ และรายละเอียดที่แก้ไขในตารางลงระบบ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78728" y="2999232"/>
            <a:ext cx="475488" cy="47548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8"/>
          <p:cNvSpPr/>
          <p:nvPr/>
        </p:nvSpPr>
        <p:spPr>
          <a:xfrm>
            <a:off x="6278728" y="2999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937096" y="2962656"/>
            <a:ext cx="470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ส่งบิลให้ผู้รับเหมา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937096" y="3255264"/>
            <a:ext cx="470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หลังกดปุ่มนี้ ผู้รับเหมาจึงจะเห็นงานในเมนู "ฟอร์มวางบิล" ของเขา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278728" y="4041648"/>
            <a:ext cx="475488" cy="47548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2"/>
          <p:cNvSpPr/>
          <p:nvPr/>
        </p:nvSpPr>
        <p:spPr>
          <a:xfrm>
            <a:off x="6278728" y="4041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937096" y="4005072"/>
            <a:ext cx="470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เอกสาร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937096" y="4297680"/>
            <a:ext cx="470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ออกไฟล์แยก 2 ฝั่ง: เก็บเงิน CJ และ เก็บเงินผู้รับเหมา (CSV / PDF)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278728" y="5084064"/>
            <a:ext cx="5364328" cy="82296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/>
        </p:spPr>
      </p:sp>
      <p:sp>
        <p:nvSpPr>
          <p:cNvPr id="29" name="Shape 26"/>
          <p:cNvSpPr/>
          <p:nvPr/>
        </p:nvSpPr>
        <p:spPr>
          <a:xfrm>
            <a:off x="6516472" y="5285232"/>
            <a:ext cx="420624" cy="420624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0" name="Image 1" descr="/tmp/cp9x_deck/g_column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246" y="5403007"/>
            <a:ext cx="185075" cy="185075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065112" y="5193792"/>
            <a:ext cx="434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ปุ่ม "จัดการคอลัมน์" ใช้ซ่อน/แสดงคอลัมน์ในตาราง ช่วยให้ตารางที่มีหลายคอลัมน์อ่านง่ายขึ้น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· คู่มือฝั่งแอดมิน — เปิดงาน ปิดงาน พักงาน วางบิล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11002975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วางบิล · สิทธิ์การมองเห็น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เจ็ดคอลัมน์ที่มีแต่แอดมินเท่านั้นที่เห็น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814255" y="402336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</p:sp>
      <p:sp>
        <p:nvSpPr>
          <p:cNvPr id="5" name="Text 3"/>
          <p:cNvSpPr/>
          <p:nvPr/>
        </p:nvSpPr>
        <p:spPr>
          <a:xfrm>
            <a:off x="9814255" y="40233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ฝั่งแอดมิน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26575" y="1408176"/>
            <a:ext cx="6547850" cy="4315968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  <a:effectLst>
            <a:outerShdw sx="100000" sy="100000" kx="0" ky="0" algn="bl" rotWithShape="0" blurRad="127000" dist="635" dir="5400000">
              <a:srgbClr val="9AA8A0">
                <a:alpha val="45000"/>
              </a:srgbClr>
            </a:outerShdw>
          </a:effectLst>
        </p:spPr>
      </p:sp>
      <p:pic>
        <p:nvPicPr>
          <p:cNvPr id="7" name="Image 0" descr="/tmp/cp9x_shots/a6b-billing-adminc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439" y="1463040"/>
            <a:ext cx="6438122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636776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6"/>
          <p:cNvSpPr/>
          <p:nvPr/>
        </p:nvSpPr>
        <p:spPr>
          <a:xfrm>
            <a:off x="7946136" y="1481328"/>
            <a:ext cx="36969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ผู้รับเหมา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26680" y="2020824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8"/>
          <p:cNvSpPr/>
          <p:nvPr/>
        </p:nvSpPr>
        <p:spPr>
          <a:xfrm>
            <a:off x="7946136" y="1865376"/>
            <a:ext cx="36969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รอบบิลที่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26680" y="2404872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0"/>
          <p:cNvSpPr/>
          <p:nvPr/>
        </p:nvSpPr>
        <p:spPr>
          <a:xfrm>
            <a:off x="7946136" y="2249424"/>
            <a:ext cx="36969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ช่วงรอบบิล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26680" y="278892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5" name="Text 12"/>
          <p:cNvSpPr/>
          <p:nvPr/>
        </p:nvSpPr>
        <p:spPr>
          <a:xfrm>
            <a:off x="7946136" y="2633472"/>
            <a:ext cx="36969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สถานะ (ส่งแล้ว / ยังไม่ส่ง)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726680" y="3172968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7" name="Text 14"/>
          <p:cNvSpPr/>
          <p:nvPr/>
        </p:nvSpPr>
        <p:spPr>
          <a:xfrm>
            <a:off x="7946136" y="3017520"/>
            <a:ext cx="36969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ราคา/หน่วย (ผู้รับเหมา)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726680" y="3557016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9" name="Text 16"/>
          <p:cNvSpPr/>
          <p:nvPr/>
        </p:nvSpPr>
        <p:spPr>
          <a:xfrm>
            <a:off x="7946136" y="3401568"/>
            <a:ext cx="36969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ราคา/รวม (ผู้รับเหมา)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726680" y="3941064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8"/>
          <p:cNvSpPr/>
          <p:nvPr/>
        </p:nvSpPr>
        <p:spPr>
          <a:xfrm>
            <a:off x="7946136" y="3785616"/>
            <a:ext cx="36969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ประเภทเก็บเงิน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726680" y="4443984"/>
            <a:ext cx="3916375" cy="1225296"/>
          </a:xfrm>
          <a:prstGeom prst="roundRect">
            <a:avLst>
              <a:gd name="adj" fmla="val 6716"/>
            </a:avLst>
          </a:prstGeom>
          <a:solidFill>
            <a:srgbClr val="DCFCE7"/>
          </a:solidFill>
          <a:ln/>
        </p:spPr>
      </p:sp>
      <p:sp>
        <p:nvSpPr>
          <p:cNvPr id="23" name="Shape 20"/>
          <p:cNvSpPr/>
          <p:nvPr/>
        </p:nvSpPr>
        <p:spPr>
          <a:xfrm>
            <a:off x="7964424" y="4846320"/>
            <a:ext cx="420624" cy="420624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4" name="Image 1" descr="/tmp/cp9x_deck/g_eyeoff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2199" y="4964095"/>
            <a:ext cx="185075" cy="18507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513064" y="4553712"/>
            <a:ext cx="289224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ผู้รับเหมาไม่เห็นคอลัมน์ชุดนี้เลย เขาเห็นเฉพาะราคาของตัวเองในคอลัมน์ "ราคา/หน่วย" และ "ราคา/รวม" ตามปกติเท่านั้น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· คู่มือฝั่งแอดมิน — เปิดงาน ปิดงาน พักงาน วางบิล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11002975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ปลายทางของวงจร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ตรวจไฟล์ที่ผู้รับเหมาส่งกลับ — อนุมัติ หรือ ตีกลับ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814255" y="402336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</p:sp>
      <p:sp>
        <p:nvSpPr>
          <p:cNvPr id="5" name="Text 3"/>
          <p:cNvSpPr/>
          <p:nvPr/>
        </p:nvSpPr>
        <p:spPr>
          <a:xfrm>
            <a:off x="9814255" y="40233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ฝั่งแอดมิน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74943" y="1408176"/>
            <a:ext cx="6239066" cy="2724912"/>
          </a:xfrm>
          <a:prstGeom prst="roundRect">
            <a:avLst>
              <a:gd name="adj" fmla="val 2013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  <a:effectLst>
            <a:outerShdw sx="100000" sy="100000" kx="0" ky="0" algn="bl" rotWithShape="0" blurRad="127000" dist="635" dir="5400000">
              <a:srgbClr val="9AA8A0">
                <a:alpha val="45000"/>
              </a:srgbClr>
            </a:outerShdw>
          </a:effectLst>
        </p:spPr>
      </p:sp>
      <p:pic>
        <p:nvPicPr>
          <p:cNvPr id="7" name="Image 0" descr="/tmp/cp9x_shots/a7-submis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9807" y="1463040"/>
            <a:ext cx="6129338" cy="2615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4315968"/>
            <a:ext cx="3547872" cy="1792224"/>
          </a:xfrm>
          <a:prstGeom prst="roundRect">
            <a:avLst>
              <a:gd name="adj" fmla="val 5102"/>
            </a:avLst>
          </a:prstGeom>
          <a:solidFill>
            <a:srgbClr val="F1F5F3"/>
          </a:solidFill>
          <a:ln/>
        </p:spPr>
      </p:sp>
      <p:sp>
        <p:nvSpPr>
          <p:cNvPr id="9" name="Shape 6"/>
          <p:cNvSpPr/>
          <p:nvPr/>
        </p:nvSpPr>
        <p:spPr>
          <a:xfrm>
            <a:off x="841248" y="4590288"/>
            <a:ext cx="548640" cy="54864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10" name="Image 1" descr="/tmp/cp9x_deck/g_user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" y="4743907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" y="5248656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กด "อนุมัติ"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841248" y="5687568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ถือว่างานจบ เลขงานจะหายจากหน้าของผู้รับเหมา แต่ไฟล์ยังถูกเก็บถาวรในเมนูนี้เสมอ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407408" y="4315968"/>
            <a:ext cx="3547872" cy="1792224"/>
          </a:xfrm>
          <a:prstGeom prst="roundRect">
            <a:avLst>
              <a:gd name="adj" fmla="val 5102"/>
            </a:avLst>
          </a:prstGeom>
          <a:solidFill>
            <a:srgbClr val="F1F5F3"/>
          </a:solidFill>
          <a:ln/>
        </p:spPr>
      </p:sp>
      <p:sp>
        <p:nvSpPr>
          <p:cNvPr id="14" name="Shape 10"/>
          <p:cNvSpPr/>
          <p:nvPr/>
        </p:nvSpPr>
        <p:spPr>
          <a:xfrm>
            <a:off x="4700016" y="4590288"/>
            <a:ext cx="548640" cy="54864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15" name="Image 2" descr="/tmp/cp9x_deck/g_xcirc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635" y="4743907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00016" y="5248656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กด "ตีกลับ"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700016" y="5687568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ต้องกรอกหมายเหตุก่อนเสมอ ถ้าปล่อยว่าง ระบบจะไม่ยอมให้ตีกลับ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266176" y="4315968"/>
            <a:ext cx="3547872" cy="1792224"/>
          </a:xfrm>
          <a:prstGeom prst="roundRect">
            <a:avLst>
              <a:gd name="adj" fmla="val 5102"/>
            </a:avLst>
          </a:prstGeom>
          <a:solidFill>
            <a:srgbClr val="F1F5F3"/>
          </a:solidFill>
          <a:ln/>
        </p:spPr>
      </p:sp>
      <p:sp>
        <p:nvSpPr>
          <p:cNvPr id="19" name="Shape 14"/>
          <p:cNvSpPr/>
          <p:nvPr/>
        </p:nvSpPr>
        <p:spPr>
          <a:xfrm>
            <a:off x="8558784" y="4590288"/>
            <a:ext cx="548640" cy="54864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20" name="Image 3" descr="/tmp/cp9x_deck/g_refres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403" y="4743907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58784" y="5248656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หลังตีกลับ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8558784" y="5687568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เลขงานจะเด้งกลับไปอยู่โซน "งานที่ต้องดำเนินการ" ของผู้รับเหมาทันที พร้อมหมายเหตุที่เขียนไว้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· คู่มือฝั่งแอดมิน — เปิดงาน ปิดงาน พักงาน วางบิล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11002975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สี่ข้อที่ต้องจำไว้เสมอ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814255" y="402336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5" name="Text 3"/>
          <p:cNvSpPr/>
          <p:nvPr/>
        </p:nvSpPr>
        <p:spPr>
          <a:xfrm>
            <a:off x="9814255" y="40233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ฝั่งแอดมิน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5364328" cy="1481328"/>
          </a:xfrm>
          <a:prstGeom prst="roundRect">
            <a:avLst>
              <a:gd name="adj" fmla="val 5556"/>
            </a:avLst>
          </a:prstGeom>
          <a:solidFill>
            <a:srgbClr val="0E3D21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938528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8" name="Image 0" descr="/tmp/cp9x_deck/g_shield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338" y="2081906"/>
            <a:ext cx="225308" cy="2253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1865376"/>
            <a:ext cx="413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เลขงานห้ามซ้ำ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481328" y="2231136"/>
            <a:ext cx="4139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5D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ระบบเช็คเลขที่ใบแจ้งซ่อมให้ตอนพิมพ์เสร็จ ถ้าขึ้นสีแดงว่าเปิดไปแล้ว ห้ามฝืนบันทึก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78728" y="1627632"/>
            <a:ext cx="5364328" cy="1481328"/>
          </a:xfrm>
          <a:prstGeom prst="roundRect">
            <a:avLst>
              <a:gd name="adj" fmla="val 5556"/>
            </a:avLst>
          </a:prstGeom>
          <a:solidFill>
            <a:srgbClr val="0E3D21"/>
          </a:solidFill>
          <a:ln/>
        </p:spPr>
      </p:sp>
      <p:sp>
        <p:nvSpPr>
          <p:cNvPr id="12" name="Shape 9"/>
          <p:cNvSpPr/>
          <p:nvPr/>
        </p:nvSpPr>
        <p:spPr>
          <a:xfrm>
            <a:off x="6553048" y="1938528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3" name="Image 1" descr="/tmp/cp9x_deck/g_calendar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426" y="2081906"/>
            <a:ext cx="225308" cy="2253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11416" y="1865376"/>
            <a:ext cx="413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"วันที่เข้าแก้ไข" คือหัวใจของรอบบิล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7211416" y="2231136"/>
            <a:ext cx="4139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5D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กรอกผิด งานจะเข้าผิดรอบ หรือหลุดจากรอบที่ควรอยู่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419856"/>
            <a:ext cx="5364328" cy="1481328"/>
          </a:xfrm>
          <a:prstGeom prst="roundRect">
            <a:avLst>
              <a:gd name="adj" fmla="val 5556"/>
            </a:avLst>
          </a:prstGeom>
          <a:solidFill>
            <a:srgbClr val="0E3D21"/>
          </a:solidFill>
          <a:ln/>
        </p:spPr>
      </p:sp>
      <p:sp>
        <p:nvSpPr>
          <p:cNvPr id="17" name="Shape 13"/>
          <p:cNvSpPr/>
          <p:nvPr/>
        </p:nvSpPr>
        <p:spPr>
          <a:xfrm>
            <a:off x="822960" y="3730752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8" name="Image 2" descr="/tmp/cp9x_deck/g_send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338" y="3874130"/>
            <a:ext cx="225308" cy="2253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81328" y="3657600"/>
            <a:ext cx="413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ต้องกด "ส่งบิลให้ผู้รับเหมา"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481328" y="4023360"/>
            <a:ext cx="4139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5D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ถ้าไม่กด ผู้รับเหมาจะไม่เห็นงานในเมนูฟอร์มวางบิลของเขาเลย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78728" y="3419856"/>
            <a:ext cx="5364328" cy="1481328"/>
          </a:xfrm>
          <a:prstGeom prst="roundRect">
            <a:avLst>
              <a:gd name="adj" fmla="val 5556"/>
            </a:avLst>
          </a:prstGeom>
          <a:solidFill>
            <a:srgbClr val="0E3D21"/>
          </a:solidFill>
          <a:ln/>
        </p:spPr>
      </p:sp>
      <p:sp>
        <p:nvSpPr>
          <p:cNvPr id="22" name="Shape 17"/>
          <p:cNvSpPr/>
          <p:nvPr/>
        </p:nvSpPr>
        <p:spPr>
          <a:xfrm>
            <a:off x="6553048" y="3730752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3" name="Image 3" descr="/tmp/cp9x_deck/g_edit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426" y="3874130"/>
            <a:ext cx="225308" cy="2253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11416" y="3657600"/>
            <a:ext cx="413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ตีกลับต้องมีหมายเหตุ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7211416" y="4023360"/>
            <a:ext cx="4139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5D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เขียนให้ชัดว่าต้องแก้อะไร เพราะข้อความนี้คือสิ่งเดียวที่ผู้รับเหมาเห็น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548640" y="519379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เล่มคู่กัน: "CP9X — คู่มือฝั่งผู้รับเหมา" อธิบายว่าอีกฝั่งเห็นอะไร และต้องส่งอะไรกลับมา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CP9X · คู่มือฝั่งแอดมิน — เปิดงาน ปิดงาน พักงาน วางบิล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11002975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CP9X - คู่มือฝั่งแอดมิน</dc:title>
  <dc:subject>PptxGenJS Presentation</dc:subject>
  <dc:creator>CP9X</dc:creator>
  <cp:lastModifiedBy>CP9X</cp:lastModifiedBy>
  <cp:revision>1</cp:revision>
  <dcterms:created xsi:type="dcterms:W3CDTF">2026-08-25T10:13:19Z</dcterms:created>
  <dcterms:modified xsi:type="dcterms:W3CDTF">2026-08-25T10:13:19Z</dcterms:modified>
</cp:coreProperties>
</file>