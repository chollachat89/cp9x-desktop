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7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77240"/>
            <a:ext cx="822960" cy="8229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tmp/cp9x_deck/icon_gri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" y="96240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7955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 ·  CP9X-PM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คู่มือการใช้งานเชิงเทคนิค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48640" y="3200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สองระบบที่ทำงานร่วมกัน: เปิด-ปิดงานซ่อม/วางบิล (CP9X) และบริหารงานบำรุงรักษาเชิงป้องกัน (CP9X-PM)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0" name="Image 1" descr="/tmp/cp9x_deck/icon_folderope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44462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" y="4343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เปิด-ปิดงาน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154680" y="4343400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3" name="Image 2" descr="/tmp/cp9x_deck/icon_billfor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550" y="444627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21608" y="4343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วางบิล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760720" y="4343400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6" name="Image 3" descr="/tmp/cp9x_deck/icon_pi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590" y="444627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27648" y="4343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Dashboard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366760" y="4343400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9" name="Image 4" descr="/tmp/cp9x_deck/icon_bel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630" y="4446270"/>
            <a:ext cx="251460" cy="2514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933688" y="4343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 PM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54864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ระบบทั้งสองใช้ฐานข้อมูลกลาง (Supabase) ร่วมกัน — อ้างอิงเลขทรัพย์สินและสาขาชุดเดียวกัน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สองโปรแกรม สองบทบาท ฐานข้อมูลเดียวกัน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9AA7C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cp9x_deck/icon_monito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21168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8892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โปรแกรม 1 · Windows Desktop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308152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CP9X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14400" y="36118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ระบบเปิด-ปิดงานซ่อม และวางบิลผู้รับเหมา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14400" y="4114800"/>
            <a:ext cx="46634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432511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2" name="Text 9"/>
          <p:cNvSpPr/>
          <p:nvPr/>
        </p:nvSpPr>
        <p:spPr>
          <a:xfrm>
            <a:off x="1115568" y="4206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บันทึกการเข้าซ่อมตามเลขทรัพย์สิน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14400" y="473659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4" name="Text 11"/>
          <p:cNvSpPr/>
          <p:nvPr/>
        </p:nvSpPr>
        <p:spPr>
          <a:xfrm>
            <a:off x="1115568" y="46177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สร้างตารางวางบิล + ฟอร์มส่งผู้รับเหมา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4400" y="514807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6" name="Text 13"/>
          <p:cNvSpPr/>
          <p:nvPr/>
        </p:nvSpPr>
        <p:spPr>
          <a:xfrm>
            <a:off x="1115568" y="5029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ติดตามสถานะงานตั้งแต่เปิดจนวางบิล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63640" y="164592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9AA7C7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29400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1" descr="/tmp/cp9x_deck/icon_pi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276" y="2116836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629400" y="278892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โปรแกรม 2 · Mobile Web App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629400" y="308152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CP9X-PM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6629400" y="36118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ระบบบริหารงานบำรุงรักษาเชิงป้องกัน (PM)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6629400" y="4114800"/>
            <a:ext cx="46634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629400" y="432511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5" name="Text 21"/>
          <p:cNvSpPr/>
          <p:nvPr/>
        </p:nvSpPr>
        <p:spPr>
          <a:xfrm>
            <a:off x="6830568" y="4206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ปฏิทินและแจ้งเตือนกำหนดการ PM ต่อสาขา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629400" y="473659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7" name="Text 23"/>
          <p:cNvSpPr/>
          <p:nvPr/>
        </p:nvSpPr>
        <p:spPr>
          <a:xfrm>
            <a:off x="6830568" y="46177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บริหารสัญญาและสิทธิ์การเลื่อนขั้น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629400" y="514807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9" name="Text 25"/>
          <p:cNvSpPr/>
          <p:nvPr/>
        </p:nvSpPr>
        <p:spPr>
          <a:xfrm>
            <a:off x="6830568" y="5029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ทะเบียนสาขา + ประวัติงานย้อนหลัง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ทั้งสองระบบอ้างอิง “เลขทรัพย์สิน” และรายชื่อสาขาชุดเดียวกัน บน Supabase — ข้อมูลจาก CP9X จึงใช้ต่อยอดวางแผน PM ใน CP9X-PM ได้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คู่มือการใช้งานเชิงเทคนิค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 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423160"/>
            <a:ext cx="914400" cy="9144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tmp/cp9x_deck/icon_monito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6289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2377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CP9X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ระบบเปิด-ปิดงานซ่อม และวางบิล (Windows Desktop App)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45720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572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เมนูหลัก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33472" y="45720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11" name="Text 8"/>
          <p:cNvSpPr/>
          <p:nvPr/>
        </p:nvSpPr>
        <p:spPr>
          <a:xfrm>
            <a:off x="2633472" y="4572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วงจรงาน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43984" y="45720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13" name="Text 10"/>
          <p:cNvSpPr/>
          <p:nvPr/>
        </p:nvSpPr>
        <p:spPr>
          <a:xfrm>
            <a:off x="4443984" y="4572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เปิด/ปิด/พักงาน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54496" y="45720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15" name="Text 12"/>
          <p:cNvSpPr/>
          <p:nvPr/>
        </p:nvSpPr>
        <p:spPr>
          <a:xfrm>
            <a:off x="6254496" y="4572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เส้นทางวางบิล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65008" y="45720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17" name="Text 14"/>
          <p:cNvSpPr/>
          <p:nvPr/>
        </p:nvSpPr>
        <p:spPr>
          <a:xfrm>
            <a:off x="8065008" y="4572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รายงาน &amp; ซิงค์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875520" y="45720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19" name="Text 16"/>
          <p:cNvSpPr/>
          <p:nvPr/>
        </p:nvSpPr>
        <p:spPr>
          <a:xfrm>
            <a:off x="9875520" y="4572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อัพเดตอัตโนมัติ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เมนูหลัก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เมนูทั้งหมดในแถบด้านซ้ายของโปรแกรม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66544" cy="1874520"/>
          </a:xfrm>
          <a:prstGeom prst="roundRect">
            <a:avLst>
              <a:gd name="adj" fmla="val 4390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1330452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cp9x_deck/icon_folderope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3609" y="203339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เปิดงาน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3182112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บันทึกแจ้งซ่อม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98064" y="1691640"/>
            <a:ext cx="2066544" cy="1874520"/>
          </a:xfrm>
          <a:prstGeom prst="roundRect">
            <a:avLst>
              <a:gd name="adj" fmla="val 4390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3579876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tmp/cp9x_deck/icon_folderclo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033" y="203339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9504" y="256032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ปิดงาน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889504" y="3182112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บันทึกผลการซ่อม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47488" y="1691640"/>
            <a:ext cx="2066544" cy="1874520"/>
          </a:xfrm>
          <a:prstGeom prst="roundRect">
            <a:avLst>
              <a:gd name="adj" fmla="val 4390"/>
            </a:avLst>
          </a:prstGeom>
          <a:solidFill>
            <a:srgbClr val="F4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582930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tmp/cp9x_deck/icon_pau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457" y="203339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38928" y="256032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พักงาน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138928" y="3182112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พักงานรออะไหล่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296912" y="1691640"/>
            <a:ext cx="2066544" cy="1874520"/>
          </a:xfrm>
          <a:prstGeom prst="roundRect">
            <a:avLst>
              <a:gd name="adj" fmla="val 4390"/>
            </a:avLst>
          </a:prstGeom>
          <a:solidFill>
            <a:srgbClr val="F4F6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078724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tmp/cp9x_deck/icon_billform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881" y="203339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88352" y="256032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ตารางวางบิล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388352" y="3182112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รวมอัตโนมัติ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546336" y="1691640"/>
            <a:ext cx="2066544" cy="1874520"/>
          </a:xfrm>
          <a:prstGeom prst="roundRect">
            <a:avLst>
              <a:gd name="adj" fmla="val 4390"/>
            </a:avLst>
          </a:prstGeom>
          <a:solidFill>
            <a:srgbClr val="F4F6FC"/>
          </a:solidFill>
          <a:ln/>
        </p:spPr>
      </p:sp>
      <p:sp>
        <p:nvSpPr>
          <p:cNvPr id="25" name="Shape 19"/>
          <p:cNvSpPr/>
          <p:nvPr/>
        </p:nvSpPr>
        <p:spPr>
          <a:xfrm>
            <a:off x="10328148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tmp/cp9x_deck/icon_uploa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1305" y="2033397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37776" y="256032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ฟอร์มวางบิล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637776" y="3182112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ส่งผู้รับเหมา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48640" y="3794760"/>
            <a:ext cx="2066544" cy="1874520"/>
          </a:xfrm>
          <a:prstGeom prst="roundRect">
            <a:avLst>
              <a:gd name="adj" fmla="val 4390"/>
            </a:avLst>
          </a:prstGeom>
          <a:solidFill>
            <a:srgbClr val="F4F6FC"/>
          </a:solidFill>
          <a:ln/>
        </p:spPr>
      </p:sp>
      <p:sp>
        <p:nvSpPr>
          <p:cNvPr id="30" name="Shape 23"/>
          <p:cNvSpPr/>
          <p:nvPr/>
        </p:nvSpPr>
        <p:spPr>
          <a:xfrm>
            <a:off x="1330452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tmp/cp9x_deck/icon_fi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3609" y="4136517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0080" y="466344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ใบเสนอราคา PM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40080" y="5285232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Excel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2798064" y="3794760"/>
            <a:ext cx="2066544" cy="1874520"/>
          </a:xfrm>
          <a:prstGeom prst="roundRect">
            <a:avLst>
              <a:gd name="adj" fmla="val 4390"/>
            </a:avLst>
          </a:prstGeom>
          <a:solidFill>
            <a:srgbClr val="F4F6FC"/>
          </a:solidFill>
          <a:ln/>
        </p:spPr>
      </p:sp>
      <p:sp>
        <p:nvSpPr>
          <p:cNvPr id="35" name="Shape 27"/>
          <p:cNvSpPr/>
          <p:nvPr/>
        </p:nvSpPr>
        <p:spPr>
          <a:xfrm>
            <a:off x="3579876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/tmp/cp9x_deck/icon_search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3033" y="4136517"/>
            <a:ext cx="276606" cy="27660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889504" y="466344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ตรวจสอบเปิดงาน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2889504" y="5285232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ดูอย่างเดียว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5047488" y="3794760"/>
            <a:ext cx="2066544" cy="1874520"/>
          </a:xfrm>
          <a:prstGeom prst="roundRect">
            <a:avLst>
              <a:gd name="adj" fmla="val 4390"/>
            </a:avLst>
          </a:prstGeom>
          <a:solidFill>
            <a:srgbClr val="F4F6FC"/>
          </a:solidFill>
          <a:ln/>
        </p:spPr>
      </p:sp>
      <p:sp>
        <p:nvSpPr>
          <p:cNvPr id="40" name="Shape 31"/>
          <p:cNvSpPr/>
          <p:nvPr/>
        </p:nvSpPr>
        <p:spPr>
          <a:xfrm>
            <a:off x="5829300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7" descr="/tmp/cp9x_deck/icon_search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2457" y="4136517"/>
            <a:ext cx="276606" cy="27660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138928" y="466344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ตรวจสอบปิดงาน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5138928" y="5285232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ดูอย่างเดียว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7296912" y="3794760"/>
            <a:ext cx="2066544" cy="1874520"/>
          </a:xfrm>
          <a:prstGeom prst="roundRect">
            <a:avLst>
              <a:gd name="adj" fmla="val 4390"/>
            </a:avLst>
          </a:prstGeom>
          <a:solidFill>
            <a:srgbClr val="F4F6FC"/>
          </a:solidFill>
          <a:ln/>
        </p:spPr>
      </p:sp>
      <p:sp>
        <p:nvSpPr>
          <p:cNvPr id="45" name="Shape 35"/>
          <p:cNvSpPr/>
          <p:nvPr/>
        </p:nvSpPr>
        <p:spPr>
          <a:xfrm>
            <a:off x="8078724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6" name="Image 8" descr="/tmp/cp9x_deck/icon_chart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881" y="4136517"/>
            <a:ext cx="276606" cy="276606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388352" y="466344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รายงานสถานะดำเนินการ</a:t>
            </a:r>
            <a:endParaRPr lang="en-US" sz="1250" dirty="0"/>
          </a:p>
        </p:txBody>
      </p:sp>
      <p:sp>
        <p:nvSpPr>
          <p:cNvPr id="48" name="Text 37"/>
          <p:cNvSpPr/>
          <p:nvPr/>
        </p:nvSpPr>
        <p:spPr>
          <a:xfrm>
            <a:off x="7388352" y="5285232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ภาพรวมทั้งหมด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9546336" y="3794760"/>
            <a:ext cx="2066544" cy="1874520"/>
          </a:xfrm>
          <a:prstGeom prst="roundRect">
            <a:avLst>
              <a:gd name="adj" fmla="val 4390"/>
            </a:avLst>
          </a:prstGeom>
          <a:solidFill>
            <a:srgbClr val="F4F6FC"/>
          </a:solidFill>
          <a:ln/>
        </p:spPr>
      </p:sp>
      <p:sp>
        <p:nvSpPr>
          <p:cNvPr id="50" name="Shape 39"/>
          <p:cNvSpPr/>
          <p:nvPr/>
        </p:nvSpPr>
        <p:spPr>
          <a:xfrm>
            <a:off x="10328148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1" name="Image 9" descr="/tmp/cp9x_deck/icon_refresh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1305" y="4136517"/>
            <a:ext cx="276606" cy="276606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9637776" y="466344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ซิงค์ไป Sheet</a:t>
            </a:r>
            <a:endParaRPr lang="en-US" sz="1250" dirty="0"/>
          </a:p>
        </p:txBody>
      </p:sp>
      <p:sp>
        <p:nvSpPr>
          <p:cNvPr id="53" name="Text 41"/>
          <p:cNvSpPr/>
          <p:nvPr/>
        </p:nvSpPr>
        <p:spPr>
          <a:xfrm>
            <a:off x="9637776" y="5285232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อัปเดตชีต</a:t>
            </a:r>
            <a:endParaRPr lang="en-US" sz="1000" dirty="0"/>
          </a:p>
        </p:txBody>
      </p:sp>
      <p:sp>
        <p:nvSpPr>
          <p:cNvPr id="54" name="Text 4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คู่มือการใช้งานเชิงเทคนิค</a:t>
            </a:r>
            <a:endParaRPr lang="en-US" sz="900" dirty="0"/>
          </a:p>
        </p:txBody>
      </p:sp>
      <p:sp>
        <p:nvSpPr>
          <p:cNvPr id="55" name="Text 43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กลไก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วงจรการทำงาน ตั้งแต่เปิดงานถึงวางบิล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3017520"/>
            <a:ext cx="914400" cy="9144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5" name="Image 0" descr="/tmp/cp9x_deck/icon_folderope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246120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3017520"/>
            <a:ext cx="914400" cy="914400"/>
          </a:xfrm>
          <a:prstGeom prst="ellipse">
            <a:avLst/>
          </a:prstGeom>
          <a:ln w="19050">
            <a:solidFill>
              <a:srgbClr val="3A469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81328" y="2907792"/>
            <a:ext cx="365760" cy="365760"/>
          </a:xfrm>
          <a:prstGeom prst="rect">
            <a:avLst/>
          </a:prstGeom>
          <a:solidFill>
            <a:srgbClr val="3A469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4069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เปิดงาน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บันทึกแจ้งซ่อม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737360" y="3474720"/>
            <a:ext cx="1298448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035808" y="3017520"/>
            <a:ext cx="914400" cy="9144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1" name="Image 1" descr="/tmp/cp9x_deck/icon_folderclo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3246120"/>
            <a:ext cx="457200" cy="457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035808" y="3017520"/>
            <a:ext cx="914400" cy="914400"/>
          </a:xfrm>
          <a:prstGeom prst="ellipse">
            <a:avLst/>
          </a:prstGeom>
          <a:ln w="19050">
            <a:solidFill>
              <a:srgbClr val="3A469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94176" y="2907792"/>
            <a:ext cx="365760" cy="365760"/>
          </a:xfrm>
          <a:prstGeom prst="rect">
            <a:avLst/>
          </a:prstGeom>
          <a:solidFill>
            <a:srgbClr val="3A469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578608" y="4069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ปิดงาน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ระบุเลขทรัพย์สิน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950208" y="3474720"/>
            <a:ext cx="1298448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5248656" y="3017520"/>
            <a:ext cx="914400" cy="9144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7" name="Image 2" descr="/tmp/cp9x_deck/icon_billfor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56" y="3246120"/>
            <a:ext cx="457200" cy="4572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248656" y="3017520"/>
            <a:ext cx="914400" cy="914400"/>
          </a:xfrm>
          <a:prstGeom prst="ellipse">
            <a:avLst/>
          </a:prstGeom>
          <a:ln w="19050">
            <a:solidFill>
              <a:srgbClr val="3A4694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907024" y="2907792"/>
            <a:ext cx="365760" cy="365760"/>
          </a:xfrm>
          <a:prstGeom prst="rect">
            <a:avLst/>
          </a:prstGeom>
          <a:solidFill>
            <a:srgbClr val="3A469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791456" y="4069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ตารางวางบิล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รวมอัตโนมัติ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163056" y="3474720"/>
            <a:ext cx="1298448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7461504" y="3017520"/>
            <a:ext cx="914400" cy="9144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23" name="Image 3" descr="/tmp/cp9x_deck/icon_uploa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104" y="3246120"/>
            <a:ext cx="457200" cy="4572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461504" y="3017520"/>
            <a:ext cx="914400" cy="914400"/>
          </a:xfrm>
          <a:prstGeom prst="ellipse">
            <a:avLst/>
          </a:prstGeom>
          <a:ln w="19050">
            <a:solidFill>
              <a:srgbClr val="3A4694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119872" y="2907792"/>
            <a:ext cx="365760" cy="365760"/>
          </a:xfrm>
          <a:prstGeom prst="rect">
            <a:avLst/>
          </a:prstGeom>
          <a:solidFill>
            <a:srgbClr val="3A469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004304" y="4069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ฟอร์มวางบิล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ส่งผู้รับเหมา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8375904" y="3474720"/>
            <a:ext cx="1298448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9674352" y="3017520"/>
            <a:ext cx="914400" cy="9144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9" name="Image 4" descr="/tmp/cp9x_deck/icon_char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2952" y="3246120"/>
            <a:ext cx="457200" cy="45720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74352" y="3017520"/>
            <a:ext cx="914400" cy="914400"/>
          </a:xfrm>
          <a:prstGeom prst="ellipse">
            <a:avLst/>
          </a:prstGeom>
          <a:ln w="19050">
            <a:solidFill>
              <a:srgbClr val="3A4694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0332720" y="2907792"/>
            <a:ext cx="365760" cy="365760"/>
          </a:xfrm>
          <a:prstGeom prst="rect">
            <a:avLst/>
          </a:prstGeom>
          <a:solidFill>
            <a:srgbClr val="3A469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9217152" y="4069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รายงานสถานะ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ติดตามความคืบหน้า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ตารางวางบิลรวมข้อมูลจากเปิดงาน+ปิดงานให้อัตโนมัติ — ผู้ใช้เลือกอะไหล่/แก้ไขก่อนส่งฟอร์มวางบิลให้ผู้รับเหมา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คู่มือการใช้งานเชิงเทคนิค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โหมดหลัก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เปิดงาน · ปิดงาน · พักงาน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65576" cy="4480560"/>
          </a:xfrm>
          <a:prstGeom prst="roundRect">
            <a:avLst>
              <a:gd name="adj" fmla="val 2639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cp9x_deck/icon_folderope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0967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5176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เปิดงาน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336499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9" name="Text 6"/>
          <p:cNvSpPr/>
          <p:nvPr/>
        </p:nvSpPr>
        <p:spPr>
          <a:xfrm>
            <a:off x="1069848" y="3218688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บันทึกวันเวลาที่เปิดงาน (เวลาไทย)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402336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3877056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กรอกรายละเอียดงานที่ต้องดำเนินการ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468172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0"/>
          <p:cNvSpPr/>
          <p:nvPr/>
        </p:nvSpPr>
        <p:spPr>
          <a:xfrm>
            <a:off x="1069848" y="4535424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วางข้อความจาก Kissflow แล้วดึงข้อมูลอัตโนมัติได้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178808" y="1691640"/>
            <a:ext cx="3465576" cy="4480560"/>
          </a:xfrm>
          <a:prstGeom prst="roundRect">
            <a:avLst>
              <a:gd name="adj" fmla="val 2639"/>
            </a:avLst>
          </a:prstGeom>
          <a:solidFill>
            <a:srgbClr val="F4F6FC"/>
          </a:solidFill>
          <a:ln/>
        </p:spPr>
      </p:sp>
      <p:sp>
        <p:nvSpPr>
          <p:cNvPr id="15" name="Shape 12"/>
          <p:cNvSpPr/>
          <p:nvPr/>
        </p:nvSpPr>
        <p:spPr>
          <a:xfrm>
            <a:off x="4498848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tmp/cp9x_deck/icon_folderclo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607" y="2096719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98848" y="265176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ปิดงาน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4498848" y="336499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9" name="Text 15"/>
          <p:cNvSpPr/>
          <p:nvPr/>
        </p:nvSpPr>
        <p:spPr>
          <a:xfrm>
            <a:off x="4700016" y="3218688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ระบุเลขงาน + เลขทรัพย์สิน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498848" y="402336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1" name="Text 17"/>
          <p:cNvSpPr/>
          <p:nvPr/>
        </p:nvSpPr>
        <p:spPr>
          <a:xfrm>
            <a:off x="4700016" y="3877056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เลขงานปิดได้หลายครั้งถ้าคนละทรัพย์สิน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498848" y="468172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3" name="Text 19"/>
          <p:cNvSpPr/>
          <p:nvPr/>
        </p:nvSpPr>
        <p:spPr>
          <a:xfrm>
            <a:off x="4700016" y="4535424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บันทึกวันเวลาที่ปิดงาน (เวลาไทย)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808976" y="1691640"/>
            <a:ext cx="3465576" cy="4480560"/>
          </a:xfrm>
          <a:prstGeom prst="roundRect">
            <a:avLst>
              <a:gd name="adj" fmla="val 2639"/>
            </a:avLst>
          </a:prstGeom>
          <a:solidFill>
            <a:srgbClr val="F4F6FC"/>
          </a:solidFill>
          <a:ln/>
        </p:spPr>
      </p:sp>
      <p:sp>
        <p:nvSpPr>
          <p:cNvPr id="25" name="Shape 21"/>
          <p:cNvSpPr/>
          <p:nvPr/>
        </p:nvSpPr>
        <p:spPr>
          <a:xfrm>
            <a:off x="8129016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2" descr="/tmp/cp9x_deck/icon_pau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775" y="2096719"/>
            <a:ext cx="332842" cy="33284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129016" y="265176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พักงาน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8129016" y="336499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9" name="Text 24"/>
          <p:cNvSpPr/>
          <p:nvPr/>
        </p:nvSpPr>
        <p:spPr>
          <a:xfrm>
            <a:off x="8330184" y="3218688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บันทึกเหตุผลที่พักงาน + ผู้ทำรายการ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8129016" y="402336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1" name="Text 26"/>
          <p:cNvSpPr/>
          <p:nvPr/>
        </p:nvSpPr>
        <p:spPr>
          <a:xfrm>
            <a:off x="8330184" y="3877056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ค้นหาประวัติการพักงานย้อนหลังได้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8129016" y="468172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3" name="Text 28"/>
          <p:cNvSpPr/>
          <p:nvPr/>
        </p:nvSpPr>
        <p:spPr>
          <a:xfrm>
            <a:off x="8330184" y="4535424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กรองด้วยเลขงาน/สาขา/สาเหตุ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คู่มือการใช้งานเชิงเทคนิค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เอกสาร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เส้นทางเอกสารวางบิล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65576" cy="4480560"/>
          </a:xfrm>
          <a:prstGeom prst="roundRect">
            <a:avLst>
              <a:gd name="adj" fmla="val 2639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cp9x_deck/icon_billfor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0967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5176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ตารางวางบิล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336499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9" name="Text 6"/>
          <p:cNvSpPr/>
          <p:nvPr/>
        </p:nvSpPr>
        <p:spPr>
          <a:xfrm>
            <a:off x="1069848" y="3218688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รวมข้อมูลอัตโนมัติจากเปิดงาน + ปิดงาน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402336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3877056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แก้ไข/เลือกอะไหล่ในแต่ละรายการได้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468172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0"/>
          <p:cNvSpPr/>
          <p:nvPr/>
        </p:nvSpPr>
        <p:spPr>
          <a:xfrm>
            <a:off x="1069848" y="4535424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แอดมินกรองตามผู้รับเหมาเพื่อกระจายบิล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178808" y="1691640"/>
            <a:ext cx="3465576" cy="4480560"/>
          </a:xfrm>
          <a:prstGeom prst="roundRect">
            <a:avLst>
              <a:gd name="adj" fmla="val 2639"/>
            </a:avLst>
          </a:prstGeom>
          <a:solidFill>
            <a:srgbClr val="F4F6FC"/>
          </a:solidFill>
          <a:ln/>
        </p:spPr>
      </p:sp>
      <p:sp>
        <p:nvSpPr>
          <p:cNvPr id="15" name="Shape 12"/>
          <p:cNvSpPr/>
          <p:nvPr/>
        </p:nvSpPr>
        <p:spPr>
          <a:xfrm>
            <a:off x="4498848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tmp/cp9x_deck/icon_uplo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607" y="2096719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98848" y="265176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ฟอร์มวางบิล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4498848" y="336499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9" name="Text 15"/>
          <p:cNvSpPr/>
          <p:nvPr/>
        </p:nvSpPr>
        <p:spPr>
          <a:xfrm>
            <a:off x="4700016" y="3218688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หน้าสำหรับผู้รับเหมาโหลดฟอร์มไปกรอก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498848" y="402336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1" name="Text 17"/>
          <p:cNvSpPr/>
          <p:nvPr/>
        </p:nvSpPr>
        <p:spPr>
          <a:xfrm>
            <a:off x="4700016" y="3877056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อัปโหลดฟอร์มที่กรอกแล้วกลับเข้าระบบ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498848" y="468172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3" name="Text 19"/>
          <p:cNvSpPr/>
          <p:nvPr/>
        </p:nvSpPr>
        <p:spPr>
          <a:xfrm>
            <a:off x="4700016" y="4535424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กดโหลด/รีเฟรชเพื่อดูรายการเลขงานล่าสุด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808976" y="1691640"/>
            <a:ext cx="3465576" cy="4480560"/>
          </a:xfrm>
          <a:prstGeom prst="roundRect">
            <a:avLst>
              <a:gd name="adj" fmla="val 2639"/>
            </a:avLst>
          </a:prstGeom>
          <a:solidFill>
            <a:srgbClr val="F4F6FC"/>
          </a:solidFill>
          <a:ln/>
        </p:spPr>
      </p:sp>
      <p:sp>
        <p:nvSpPr>
          <p:cNvPr id="25" name="Shape 21"/>
          <p:cNvSpPr/>
          <p:nvPr/>
        </p:nvSpPr>
        <p:spPr>
          <a:xfrm>
            <a:off x="8129016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2" descr="/tmp/cp9x_deck/icon_fi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775" y="2096719"/>
            <a:ext cx="332842" cy="33284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129016" y="265176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ใบเสนอราคา PM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8129016" y="336499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9" name="Text 24"/>
          <p:cNvSpPr/>
          <p:nvPr/>
        </p:nvSpPr>
        <p:spPr>
          <a:xfrm>
            <a:off x="8330184" y="3218688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สร้างใบเสนอราคาจากงานที่ปิดแล้ว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8129016" y="402336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1" name="Text 26"/>
          <p:cNvSpPr/>
          <p:nvPr/>
        </p:nvSpPr>
        <p:spPr>
          <a:xfrm>
            <a:off x="8330184" y="3877056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แก้ไข Description ในใบเสนอราคาได้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8129016" y="468172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3" name="Text 28"/>
          <p:cNvSpPr/>
          <p:nvPr/>
        </p:nvSpPr>
        <p:spPr>
          <a:xfrm>
            <a:off x="8330184" y="4535424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ดาวน์โหลดเป็น PDF หรือ Excel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คู่มือการใช้งานเชิงเทคนิค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ติดตามงาน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ตรวจสอบ รายงาน และซิงค์ข้อมูล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cp9x_deck/icon_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0509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4708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ตรวจสอบเปิดงาน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577840" y="1847088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ดู/กรองรายการเปิดงานทั้งหมด — อ่านอย่างเดียว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52928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03580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tmp/cp9x_deck/icon_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" y="316656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962656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ตรวจสอบปิดงาน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577840" y="2962656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ดู/กรองรายการปิดงานทั้งหมด — อ่านอย่างเดียว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68496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151376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tmp/cp9x_deck/icon_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282135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78224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รายงานสถานะดำเนินการ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577840" y="4078224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 เปิดงาน → ปิดงาน → วางบิล พร้อมนับพักงาน/รอดำเนินการ/ปิดงานแล้ว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08406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266944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tmp/cp9x_deck/icon_refres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5397703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19379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ซิงค์ข้อมูลไป Sheet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577840" y="5193792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ปุ่มซิงค์ข้อมูลด้วยตนเองไปยัง Google Sheet เมื่อต้องการ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คู่มือการใช้งานเชิงเทคนิค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บำรุงรักษา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อัพเดตแอปอัตโนมัติผ่าน GitHub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2880360"/>
            <a:ext cx="868680" cy="8686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5" name="Image 0" descr="/tmp/cp9x_deck/icon_t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010" y="309753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8587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tag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v1.0.x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874520" y="3314700"/>
            <a:ext cx="1280160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3154680" y="2880360"/>
            <a:ext cx="868680" cy="8686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9" name="Image 1" descr="/tmp/cp9x_deck/icon_settin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850" y="3097530"/>
            <a:ext cx="434340" cy="4343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97480" y="38587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023360" y="3314700"/>
            <a:ext cx="1280160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5303520" y="2880360"/>
            <a:ext cx="868680" cy="8686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3" name="Image 2" descr="/tmp/cp9x_deck/icon_uploa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690" y="3097530"/>
            <a:ext cx="434340" cy="4343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46320" y="38587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Release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.exe + latest.yml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172200" y="3314700"/>
            <a:ext cx="1280160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16" name="Shape 11"/>
          <p:cNvSpPr/>
          <p:nvPr/>
        </p:nvSpPr>
        <p:spPr>
          <a:xfrm>
            <a:off x="7452360" y="2880360"/>
            <a:ext cx="868680" cy="8686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7" name="Image 3" descr="/tmp/cp9x_deck/icon_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530" y="309753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5160" y="38587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แอปตรวจสอบ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30 นาที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321040" y="3314700"/>
            <a:ext cx="1280160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20" name="Shape 14"/>
          <p:cNvSpPr/>
          <p:nvPr/>
        </p:nvSpPr>
        <p:spPr>
          <a:xfrm>
            <a:off x="9601200" y="2880360"/>
            <a:ext cx="868680" cy="8686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1" name="Image 4" descr="/tmp/cp9x_deck/icon_bell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8370" y="3097530"/>
            <a:ext cx="434340" cy="4343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144000" y="38587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รีสตาร์ต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1005840" y="5074920"/>
            <a:ext cx="10149840" cy="1097280"/>
          </a:xfrm>
          <a:prstGeom prst="roundRect">
            <a:avLst>
              <a:gd name="adj" fmla="val 7500"/>
            </a:avLst>
          </a:prstGeom>
          <a:solidFill>
            <a:srgbClr val="141B47"/>
          </a:solidFill>
          <a:ln/>
        </p:spPr>
      </p:sp>
      <p:sp>
        <p:nvSpPr>
          <p:cNvPr id="24" name="Text 17"/>
          <p:cNvSpPr/>
          <p:nvPr/>
        </p:nvSpPr>
        <p:spPr>
          <a:xfrm>
            <a:off x="1280160" y="50749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กฎเหล็ก: 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 = git tag = GitHub Release = เลขในแอป ต้องตรงกันเสมอ (เช่น 1.0.28 = v1.0.28)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คู่มือการใช้งานเชิงเทคนิค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 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423160"/>
            <a:ext cx="914400" cy="9144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tmp/cp9x_deck/icon_pi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6289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2377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CP9X-PM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ระบบบริหารงานบำรุงรักษาเชิงป้องกัน (Preventive Maintenance)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45720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572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33472" y="45720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11" name="Text 8"/>
          <p:cNvSpPr/>
          <p:nvPr/>
        </p:nvSpPr>
        <p:spPr>
          <a:xfrm>
            <a:off x="2633472" y="4572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นำเข้า+ตั้งค่า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443984" y="45720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13" name="Text 10"/>
          <p:cNvSpPr/>
          <p:nvPr/>
        </p:nvSpPr>
        <p:spPr>
          <a:xfrm>
            <a:off x="4443984" y="4572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Calendar+Records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54496" y="45720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15" name="Text 12"/>
          <p:cNvSpPr/>
          <p:nvPr/>
        </p:nvSpPr>
        <p:spPr>
          <a:xfrm>
            <a:off x="6254496" y="4572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Alerts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65008" y="45720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17" name="Text 14"/>
          <p:cNvSpPr/>
          <p:nvPr/>
        </p:nvSpPr>
        <p:spPr>
          <a:xfrm>
            <a:off x="8065008" y="4572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สัญญา+สาขา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875520" y="45720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19" name="Text 16"/>
          <p:cNvSpPr/>
          <p:nvPr/>
        </p:nvSpPr>
        <p:spPr>
          <a:xfrm>
            <a:off x="9875520" y="4572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ประวัติ SSS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CP9X-PM · โครงสร้าง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หน้าจอทั้งหมดในแอป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8728" cy="1426464"/>
          </a:xfrm>
          <a:prstGeom prst="roundRect">
            <a:avLst>
              <a:gd name="adj" fmla="val 5769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47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cp9x_deck/icon_fileplu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2060829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874520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นำเข้าข้อมูล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44752" y="2240280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อัปโหลด CSV/Excel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734056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แตะเมนู ☰ หรือแถบล่างเพื่อเข้าหน้านี้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06824" y="1691640"/>
            <a:ext cx="3538728" cy="1426464"/>
          </a:xfrm>
          <a:prstGeom prst="roundRect">
            <a:avLst>
              <a:gd name="adj" fmla="val 5769"/>
            </a:avLst>
          </a:prstGeom>
          <a:solidFill>
            <a:srgbClr val="F4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4535424" y="1947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tmp/cp9x_deck/icon_pi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581" y="2060829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02936" y="1874520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202936" y="2240280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 PM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35424" y="2734056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แตะเมนู ☰ หรือแถบล่างเพื่อเข้าหน้านี้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065008" y="1691640"/>
            <a:ext cx="3538728" cy="1426464"/>
          </a:xfrm>
          <a:prstGeom prst="roundRect">
            <a:avLst>
              <a:gd name="adj" fmla="val 5769"/>
            </a:avLst>
          </a:prstGeom>
          <a:solidFill>
            <a:srgbClr val="F4F6FC"/>
          </a:solidFill>
          <a:ln/>
        </p:spPr>
      </p:sp>
      <p:sp>
        <p:nvSpPr>
          <p:cNvPr id="17" name="Shape 13"/>
          <p:cNvSpPr/>
          <p:nvPr/>
        </p:nvSpPr>
        <p:spPr>
          <a:xfrm>
            <a:off x="8293608" y="1947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tmp/cp9x_deck/icon_slid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765" y="2060829"/>
            <a:ext cx="276606" cy="27660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0" y="1874520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ตั้งค่าระบบ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961120" y="2240280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เกณฑ์แจ้งเตือน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93608" y="2734056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แตะเมนู ☰ หรือแถบล่างเพื่อเข้าหน้านี้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8640" y="3300984"/>
            <a:ext cx="3538728" cy="1426464"/>
          </a:xfrm>
          <a:prstGeom prst="roundRect">
            <a:avLst>
              <a:gd name="adj" fmla="val 5769"/>
            </a:avLst>
          </a:prstGeom>
          <a:solidFill>
            <a:srgbClr val="F4F6FC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35570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tmp/cp9x_deck/icon_calend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97" y="3670173"/>
            <a:ext cx="276606" cy="27660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44752" y="3483864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1444752" y="3849624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ปฏิทินจ่ายงาน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77240" y="4343400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แตะเมนู ☰ หรือแถบล่างเพื่อเข้าหน้านี้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306824" y="3300984"/>
            <a:ext cx="3538728" cy="1426464"/>
          </a:xfrm>
          <a:prstGeom prst="roundRect">
            <a:avLst>
              <a:gd name="adj" fmla="val 5769"/>
            </a:avLst>
          </a:prstGeom>
          <a:solidFill>
            <a:srgbClr val="F4F6FC"/>
          </a:solidFill>
          <a:ln/>
        </p:spPr>
      </p:sp>
      <p:sp>
        <p:nvSpPr>
          <p:cNvPr id="29" name="Shape 23"/>
          <p:cNvSpPr/>
          <p:nvPr/>
        </p:nvSpPr>
        <p:spPr>
          <a:xfrm>
            <a:off x="4535424" y="35570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/tmp/cp9x_deck/icon_edi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581" y="3670173"/>
            <a:ext cx="276606" cy="27660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02936" y="3483864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5202936" y="3849624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บันทึกเข้า PM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4535424" y="4343400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แตะเมนู ☰ หรือแถบล่างเพื่อเข้าหน้านี้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8065008" y="3300984"/>
            <a:ext cx="3538728" cy="1426464"/>
          </a:xfrm>
          <a:prstGeom prst="roundRect">
            <a:avLst>
              <a:gd name="adj" fmla="val 5769"/>
            </a:avLst>
          </a:prstGeom>
          <a:solidFill>
            <a:srgbClr val="F4F6FC"/>
          </a:solidFill>
          <a:ln/>
        </p:spPr>
      </p:sp>
      <p:sp>
        <p:nvSpPr>
          <p:cNvPr id="35" name="Shape 28"/>
          <p:cNvSpPr/>
          <p:nvPr/>
        </p:nvSpPr>
        <p:spPr>
          <a:xfrm>
            <a:off x="8293608" y="35570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5" descr="/tmp/cp9x_deck/icon_alertcirc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6765" y="3670173"/>
            <a:ext cx="276606" cy="27660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961120" y="3483864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 Alerts</a:t>
            </a:r>
            <a:endParaRPr lang="en-US" sz="1450" dirty="0"/>
          </a:p>
        </p:txBody>
      </p:sp>
      <p:sp>
        <p:nvSpPr>
          <p:cNvPr id="38" name="Text 30"/>
          <p:cNvSpPr/>
          <p:nvPr/>
        </p:nvSpPr>
        <p:spPr>
          <a:xfrm>
            <a:off x="8961120" y="3849624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 PM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8293608" y="4343400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แตะเมนู ☰ หรือแถบล่างเพื่อเข้าหน้านี้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548640" y="4910328"/>
            <a:ext cx="3538728" cy="1426464"/>
          </a:xfrm>
          <a:prstGeom prst="roundRect">
            <a:avLst>
              <a:gd name="adj" fmla="val 5769"/>
            </a:avLst>
          </a:prstGeom>
          <a:solidFill>
            <a:srgbClr val="F4F6FC"/>
          </a:solidFill>
          <a:ln/>
        </p:spPr>
      </p:sp>
      <p:sp>
        <p:nvSpPr>
          <p:cNvPr id="41" name="Shape 33"/>
          <p:cNvSpPr/>
          <p:nvPr/>
        </p:nvSpPr>
        <p:spPr>
          <a:xfrm>
            <a:off x="777240" y="5166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2" name="Image 6" descr="/tmp/cp9x_deck/icon_trendup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397" y="5279517"/>
            <a:ext cx="276606" cy="276606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444752" y="509320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สัญญา &amp; เลื่อนขั้น</a:t>
            </a:r>
            <a:endParaRPr lang="en-US" sz="1450" dirty="0"/>
          </a:p>
        </p:txBody>
      </p:sp>
      <p:sp>
        <p:nvSpPr>
          <p:cNvPr id="44" name="Text 35"/>
          <p:cNvSpPr/>
          <p:nvPr/>
        </p:nvSpPr>
        <p:spPr>
          <a:xfrm>
            <a:off x="1444752" y="5458968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บริหารสัญญา</a:t>
            </a:r>
            <a:endParaRPr lang="en-US" sz="1100" dirty="0"/>
          </a:p>
        </p:txBody>
      </p:sp>
      <p:sp>
        <p:nvSpPr>
          <p:cNvPr id="45" name="Text 36"/>
          <p:cNvSpPr/>
          <p:nvPr/>
        </p:nvSpPr>
        <p:spPr>
          <a:xfrm>
            <a:off x="777240" y="5952744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แตะเมนู ☰ หรือแถบล่างเพื่อเข้าหน้านี้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4306824" y="4910328"/>
            <a:ext cx="3538728" cy="1426464"/>
          </a:xfrm>
          <a:prstGeom prst="roundRect">
            <a:avLst>
              <a:gd name="adj" fmla="val 5769"/>
            </a:avLst>
          </a:prstGeom>
          <a:solidFill>
            <a:srgbClr val="F4F6FC"/>
          </a:solidFill>
          <a:ln/>
        </p:spPr>
      </p:sp>
      <p:sp>
        <p:nvSpPr>
          <p:cNvPr id="47" name="Shape 38"/>
          <p:cNvSpPr/>
          <p:nvPr/>
        </p:nvSpPr>
        <p:spPr>
          <a:xfrm>
            <a:off x="4535424" y="5166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8" name="Image 7" descr="/tmp/cp9x_deck/icon_mappin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8581" y="5279517"/>
            <a:ext cx="276606" cy="276606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5202936" y="509320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ทะเบียนสาขา</a:t>
            </a:r>
            <a:endParaRPr lang="en-US" sz="1450" dirty="0"/>
          </a:p>
        </p:txBody>
      </p:sp>
      <p:sp>
        <p:nvSpPr>
          <p:cNvPr id="50" name="Text 40"/>
          <p:cNvSpPr/>
          <p:nvPr/>
        </p:nvSpPr>
        <p:spPr>
          <a:xfrm>
            <a:off x="5202936" y="5458968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ข้อมูลสาขา</a:t>
            </a:r>
            <a:endParaRPr lang="en-US" sz="1100" dirty="0"/>
          </a:p>
        </p:txBody>
      </p:sp>
      <p:sp>
        <p:nvSpPr>
          <p:cNvPr id="51" name="Text 41"/>
          <p:cNvSpPr/>
          <p:nvPr/>
        </p:nvSpPr>
        <p:spPr>
          <a:xfrm>
            <a:off x="4535424" y="5952744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แตะเมนู ☰ หรือแถบล่างเพื่อเข้าหน้านี้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8065008" y="4910328"/>
            <a:ext cx="3538728" cy="1426464"/>
          </a:xfrm>
          <a:prstGeom prst="roundRect">
            <a:avLst>
              <a:gd name="adj" fmla="val 5769"/>
            </a:avLst>
          </a:prstGeom>
          <a:solidFill>
            <a:srgbClr val="F4F6FC"/>
          </a:solidFill>
          <a:ln/>
        </p:spPr>
      </p:sp>
      <p:sp>
        <p:nvSpPr>
          <p:cNvPr id="53" name="Shape 43"/>
          <p:cNvSpPr/>
          <p:nvPr/>
        </p:nvSpPr>
        <p:spPr>
          <a:xfrm>
            <a:off x="8293608" y="5166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4" name="Image 8" descr="/tmp/cp9x_deck/icon_archiv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6765" y="5279517"/>
            <a:ext cx="276606" cy="276606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8961120" y="509320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ประวัติ SSS</a:t>
            </a:r>
            <a:endParaRPr lang="en-US" sz="1450" dirty="0"/>
          </a:p>
        </p:txBody>
      </p:sp>
      <p:sp>
        <p:nvSpPr>
          <p:cNvPr id="56" name="Text 45"/>
          <p:cNvSpPr/>
          <p:nvPr/>
        </p:nvSpPr>
        <p:spPr>
          <a:xfrm>
            <a:off x="8961120" y="5458968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ประวัติงานย้อนหลัง</a:t>
            </a:r>
            <a:endParaRPr lang="en-US" sz="1100" dirty="0"/>
          </a:p>
        </p:txBody>
      </p:sp>
      <p:sp>
        <p:nvSpPr>
          <p:cNvPr id="57" name="Text 46"/>
          <p:cNvSpPr/>
          <p:nvPr/>
        </p:nvSpPr>
        <p:spPr>
          <a:xfrm>
            <a:off x="8293608" y="5952744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แตะเมนู ☰ หรือแถบล่างเพื่อเข้าหน้านี้</a:t>
            </a:r>
            <a:endParaRPr lang="en-US" sz="900" dirty="0"/>
          </a:p>
        </p:txBody>
      </p:sp>
      <p:sp>
        <p:nvSpPr>
          <p:cNvPr id="58" name="Text 47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คู่มือการใช้งานเชิงเทคนิค</a:t>
            </a:r>
            <a:endParaRPr lang="en-US" sz="900" dirty="0"/>
          </a:p>
        </p:txBody>
      </p:sp>
      <p:sp>
        <p:nvSpPr>
          <p:cNvPr id="59" name="Text 48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CP9X-PM · หน้าแรก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ภาพรวมงาน PM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470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1,248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ทั้งหมด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141B47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8470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E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เข้าเป้า (+75%)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173736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141B47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8470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85216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รอดำเนินการ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66760" y="173736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141B47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8470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77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6676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ล่าช้า (Action Req)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การดำเนินการด่วน (Quick Actions)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393192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141B47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1560" y="416052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9" name="Image 0" descr="/tmp/cp9x_deck/icon_fileplu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202" y="4271162"/>
            <a:ext cx="281635" cy="28163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51560" y="4754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เพิ่มงานใหม่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51560" y="5074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บันทึกงาน PM รายการใหม่ทันที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26280" y="393192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141B47"/>
          </a:solidFill>
          <a:ln/>
        </p:spPr>
      </p:sp>
      <p:sp>
        <p:nvSpPr>
          <p:cNvPr id="23" name="Shape 20"/>
          <p:cNvSpPr/>
          <p:nvPr/>
        </p:nvSpPr>
        <p:spPr>
          <a:xfrm>
            <a:off x="4754880" y="416052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4" name="Image 1" descr="/tmp/cp9x_deck/icon_uploa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522" y="4271162"/>
            <a:ext cx="281635" cy="28163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754880" y="4754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นำเข้า CSV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754880" y="5074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อัปเดตฐานข้อมูลจากไฟล์ CSV/Excel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8229600" y="393192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141B47"/>
          </a:solidFill>
          <a:ln/>
        </p:spPr>
      </p:sp>
      <p:sp>
        <p:nvSpPr>
          <p:cNvPr id="28" name="Shape 24"/>
          <p:cNvSpPr/>
          <p:nvPr/>
        </p:nvSpPr>
        <p:spPr>
          <a:xfrm>
            <a:off x="8458200" y="416052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9" name="Image 2" descr="/tmp/cp9x_deck/icon_downloa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842" y="4271162"/>
            <a:ext cx="281635" cy="28163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458200" y="4754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ส่งออกรายงาน Excel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8458200" y="5074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ดาวน์โหลดสรุปงาน PM เป็น Excel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คู่มือการใช้งานเชิงเทคนิค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CP9X-PM · ข้อมูล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นำเข้าข้อมูล และตั้งค่าระบบ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cp9x_deck/icon_fileplu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0967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517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นำเข้าข้อมูล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336499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9" name="Text 6"/>
          <p:cNvSpPr/>
          <p:nvPr/>
        </p:nvSpPr>
        <p:spPr>
          <a:xfrm>
            <a:off x="1069848" y="321868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ลากวางไฟล์ หรือเลือกไฟล์ CSV / Excel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402336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3877056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 .csv, .xlsx, .xls ขนาดไม่เกิน 50MB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468172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0"/>
          <p:cNvSpPr/>
          <p:nvPr/>
        </p:nvSpPr>
        <p:spPr>
          <a:xfrm>
            <a:off x="1069848" y="4535424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แมปคอลัมน์ต้นทาง → ปลายทางก่อนนำเข้า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5340096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5" name="Text 12"/>
          <p:cNvSpPr/>
          <p:nvPr/>
        </p:nvSpPr>
        <p:spPr>
          <a:xfrm>
            <a:off x="1069848" y="5193792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พรีวิวข้อมูลตัวอย่างก่อนกด Start Import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89320" y="16916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17" name="Shape 14"/>
          <p:cNvSpPr/>
          <p:nvPr/>
        </p:nvSpPr>
        <p:spPr>
          <a:xfrm>
            <a:off x="630936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1" descr="/tmp/cp9x_deck/icon_slid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119" y="2096719"/>
            <a:ext cx="332842" cy="33284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309360" y="26517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ตั้งค่าระบบ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309360" y="336499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1" name="Text 17"/>
          <p:cNvSpPr/>
          <p:nvPr/>
        </p:nvSpPr>
        <p:spPr>
          <a:xfrm>
            <a:off x="6510528" y="321868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กำหนดวันแจ้งเตือนล่วงหน้า (ค่าเริ่มต้น 7 วัน)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309360" y="402336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3" name="Text 19"/>
          <p:cNvSpPr/>
          <p:nvPr/>
        </p:nvSpPr>
        <p:spPr>
          <a:xfrm>
            <a:off x="6510528" y="3877056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ตั้งระยะเวลาผ่อนผัน Grace Period (ค่าเริ่มต้น 3 วัน)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309360" y="468172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5" name="Text 21"/>
          <p:cNvSpPr/>
          <p:nvPr/>
        </p:nvSpPr>
        <p:spPr>
          <a:xfrm>
            <a:off x="6510528" y="4535424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เปิด/ปิดการแจ้งเตือนผ่านอีเมล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309360" y="5340096"/>
            <a:ext cx="82296" cy="82296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7" name="Text 23"/>
          <p:cNvSpPr/>
          <p:nvPr/>
        </p:nvSpPr>
        <p:spPr>
          <a:xfrm>
            <a:off x="6510528" y="5193792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Zone: ล้างข้อมูลทั้งหมด — ทำแล้วกู้คืนไม่ได้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คู่มือการใช้งานเชิงเทคนิค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CP9X-PM · งานประจำวัน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และ Records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cp9x_deck/icon_calend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0967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517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— ปฏิทินจ่ายงาน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341071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9" name="Text 6"/>
          <p:cNvSpPr/>
          <p:nvPr/>
        </p:nvSpPr>
        <p:spPr>
          <a:xfrm>
            <a:off x="1069848" y="326440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กรองรายการตามสาขา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4032504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388620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ปฏิทินรายเดือน: จุดส้ม = ใกล้ถึงกำหนด, จุดเขียว = เสร็จแล้ว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4654296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0"/>
          <p:cNvSpPr/>
          <p:nvPr/>
        </p:nvSpPr>
        <p:spPr>
          <a:xfrm>
            <a:off x="1069848" y="4507992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แตะวันที่เพื่อดูรายชื่อสาขาที่มีงานประจำวันนั้น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89320" y="16916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15" name="Shape 12"/>
          <p:cNvSpPr/>
          <p:nvPr/>
        </p:nvSpPr>
        <p:spPr>
          <a:xfrm>
            <a:off x="630936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tmp/cp9x_deck/icon_edi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119" y="2096719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09360" y="26517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 — บันทึกเข้า PM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309360" y="341071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9" name="Text 15"/>
          <p:cNvSpPr/>
          <p:nvPr/>
        </p:nvSpPr>
        <p:spPr>
          <a:xfrm>
            <a:off x="6510528" y="326440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ค้นหาด้วยรหัสหรือชื่อสาขา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309360" y="4032504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1" name="Text 17"/>
          <p:cNvSpPr/>
          <p:nvPr/>
        </p:nvSpPr>
        <p:spPr>
          <a:xfrm>
            <a:off x="6510528" y="388620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กรอง: ทั้งหมด / เรียบร้อย / ไม่เรียบร้อย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309360" y="4654296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3" name="Text 19"/>
          <p:cNvSpPr/>
          <p:nvPr/>
        </p:nvSpPr>
        <p:spPr>
          <a:xfrm>
            <a:off x="6510528" y="4507992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แสดงไตรมาส วันที่เข้างาน และผู้ปฏิบัติงาน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309360" y="527608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5" name="Text 21"/>
          <p:cNvSpPr/>
          <p:nvPr/>
        </p:nvSpPr>
        <p:spPr>
          <a:xfrm>
            <a:off x="6510528" y="5129784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ปุ่ม + มุมล่างขวาสำหรับเพิ่มบันทึกใหม่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คู่มือการใช้งานเชิงเทคนิค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CP9X-PM · แจ้งเตือน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 Alerts — แจ้งเตือนก่อนถึงกำหนด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ตัวกรอง: ทั้งหมด / เตือน / ถึงกำหนด / เกินกำหนด — ค้นหาด้วยรหัสหรือชื่อสาขาได้ทันที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78608"/>
            <a:ext cx="109728" cy="457200"/>
          </a:xfrm>
          <a:prstGeom prst="roundRect">
            <a:avLst/>
          </a:prstGeom>
          <a:solidFill>
            <a:srgbClr val="D9534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4414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BR-0105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244144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สาขา บางกะปิ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760720" y="244144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Contract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0" y="244144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ครบกำหนด 15 ก.ย. 2023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378440" y="2606040"/>
            <a:ext cx="1051560" cy="411480"/>
          </a:xfrm>
          <a:prstGeom prst="roundRect">
            <a:avLst>
              <a:gd name="adj" fmla="val 48889"/>
            </a:avLst>
          </a:prstGeom>
          <a:solidFill>
            <a:srgbClr val="D9534F"/>
          </a:solidFill>
          <a:ln/>
        </p:spPr>
      </p:sp>
      <p:sp>
        <p:nvSpPr>
          <p:cNvPr id="12" name="Text 10"/>
          <p:cNvSpPr/>
          <p:nvPr/>
        </p:nvSpPr>
        <p:spPr>
          <a:xfrm>
            <a:off x="10378440" y="260604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เกินกำหนด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47288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694176"/>
            <a:ext cx="109728" cy="457200"/>
          </a:xfrm>
          <a:prstGeom prst="roundRect">
            <a:avLst/>
          </a:prstGeom>
          <a:solidFill>
            <a:srgbClr val="F2A65A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557016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BR-0211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3557016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สาขา ลาดพร้าว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760720" y="3557016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Warranty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03920" y="3557016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ครบกำหนด 28 ก.ย. 2023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378440" y="3721608"/>
            <a:ext cx="1051560" cy="411480"/>
          </a:xfrm>
          <a:prstGeom prst="roundRect">
            <a:avLst>
              <a:gd name="adj" fmla="val 48889"/>
            </a:avLst>
          </a:prstGeom>
          <a:solidFill>
            <a:srgbClr val="F2A65A"/>
          </a:solidFill>
          <a:ln/>
        </p:spPr>
      </p:sp>
      <p:sp>
        <p:nvSpPr>
          <p:cNvPr id="20" name="Text 18"/>
          <p:cNvSpPr/>
          <p:nvPr/>
        </p:nvSpPr>
        <p:spPr>
          <a:xfrm>
            <a:off x="10378440" y="372160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ใกล้ถึง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62856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809744"/>
            <a:ext cx="109728" cy="457200"/>
          </a:xfrm>
          <a:prstGeom prst="roundRect">
            <a:avLst/>
          </a:prstGeom>
          <a:solidFill>
            <a:srgbClr val="F2A65A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672584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BR-0342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14600" y="467258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สาขา รังสิต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760720" y="4672584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Turnkey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03920" y="4672584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ครบกำหนด 02 ต.ค. 2023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378440" y="4837176"/>
            <a:ext cx="1051560" cy="411480"/>
          </a:xfrm>
          <a:prstGeom prst="roundRect">
            <a:avLst>
              <a:gd name="adj" fmla="val 48889"/>
            </a:avLst>
          </a:prstGeom>
          <a:solidFill>
            <a:srgbClr val="F2A65A"/>
          </a:solidFill>
          <a:ln/>
        </p:spPr>
      </p:sp>
      <p:sp>
        <p:nvSpPr>
          <p:cNvPr id="28" name="Text 26"/>
          <p:cNvSpPr/>
          <p:nvPr/>
        </p:nvSpPr>
        <p:spPr>
          <a:xfrm>
            <a:off x="10378440" y="4837176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ใกล้ถึง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4F6FC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715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สีแดง = เกินกำหนด (Overdue)   ·   สีส้ม = ใกล้ถึงกำหนด (Warning)   ·   อ้างอิงตามวันที่ครบกำหนด PM ของแต่ละสาขา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คู่มือการใช้งานเชิงเทคนิค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CP9X-PM · สัญญาและสาขา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สัญญา &amp; การเลื่อนขั้น · ทะเบียนสาขา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cp9x_deck/icon_trend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0967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517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สัญญา &amp; การเลื่อนขั้น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341071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9" name="Text 6"/>
          <p:cNvSpPr/>
          <p:nvPr/>
        </p:nvSpPr>
        <p:spPr>
          <a:xfrm>
            <a:off x="1069848" y="326440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ติดตามสัญญา In Warranty / Service Contract / Turnkey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4032504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388620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คำนวณสิทธิ์เลื่อนขั้นสัญญาอัตโนมัติเป็น %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4654296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0"/>
          <p:cNvSpPr/>
          <p:nvPr/>
        </p:nvSpPr>
        <p:spPr>
          <a:xfrm>
            <a:off x="1069848" y="4507992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ปุ่มเลื่อนขั้นแบบกลุ่ม (Bulk Upgrade)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527608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5" name="Text 12"/>
          <p:cNvSpPr/>
          <p:nvPr/>
        </p:nvSpPr>
        <p:spPr>
          <a:xfrm>
            <a:off x="1069848" y="5129784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ส่งออกรายชื่อเป็น Excel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89320" y="16916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17" name="Shape 14"/>
          <p:cNvSpPr/>
          <p:nvPr/>
        </p:nvSpPr>
        <p:spPr>
          <a:xfrm>
            <a:off x="630936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1" descr="/tmp/cp9x_deck/icon_mapp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119" y="2096719"/>
            <a:ext cx="332842" cy="33284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309360" y="26517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ทะเบียนสาขา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309360" y="341071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1" name="Text 17"/>
          <p:cNvSpPr/>
          <p:nvPr/>
        </p:nvSpPr>
        <p:spPr>
          <a:xfrm>
            <a:off x="6510528" y="326440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เพิ่มสาขาใหม่ผ่านปุ่ม “เพิ่มสาขาใหม่”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309360" y="4032504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3" name="Text 19"/>
          <p:cNvSpPr/>
          <p:nvPr/>
        </p:nvSpPr>
        <p:spPr>
          <a:xfrm>
            <a:off x="6510528" y="388620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ค้นหาด้วยรหัส/ชื่อสาขา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309360" y="4654296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5" name="Text 21"/>
          <p:cNvSpPr/>
          <p:nvPr/>
        </p:nvSpPr>
        <p:spPr>
          <a:xfrm>
            <a:off x="6510528" y="4507992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กรองตามประเภทสัญญา ผู้รับเหมา ช่าง สถานะ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309360" y="527608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7" name="Text 23"/>
          <p:cNvSpPr/>
          <p:nvPr/>
        </p:nvSpPr>
        <p:spPr>
          <a:xfrm>
            <a:off x="6510528" y="5129784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แก้ไขข้อมูลสาขาแต่ละรายการได้ทันที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คู่มือการใช้งานเชิงเทคนิค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CP9X-PM · ประวัติงาน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ประวัติบันทึกงานระดับ SSS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tmp/cp9x_deck/icon_archiv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93395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745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บันทึกประวัติการเข้าปฏิบัติงานทุกครั้ง แยกตามประเภทงานและระดับความรับผิดชอบ (SSS) เพื่อย้อนดูภายหลังได้ครบถ้วน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3538728" cy="1828800"/>
          </a:xfrm>
          <a:prstGeom prst="roundRect">
            <a:avLst>
              <a:gd name="adj" fmla="val 4500"/>
            </a:avLst>
          </a:prstGeom>
          <a:solidFill>
            <a:srgbClr val="F4F6FC"/>
          </a:solidFill>
          <a:ln/>
        </p:spPr>
      </p:sp>
      <p:sp>
        <p:nvSpPr>
          <p:cNvPr id="8" name="Shape 5"/>
          <p:cNvSpPr/>
          <p:nvPr/>
        </p:nvSpPr>
        <p:spPr>
          <a:xfrm>
            <a:off x="804672" y="3017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tmp/cp9x_deck/icon_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14" y="312816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3611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ค้นหา &amp; กรอง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04672" y="395020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ค้นหาด้วยรหัส/ชื่อสาขา/เลขงาน — กรองตามประเภทสัญญา จังหวัด ช่าง และช่วงวันที่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06824" y="2788920"/>
            <a:ext cx="3538728" cy="1828800"/>
          </a:xfrm>
          <a:prstGeom prst="roundRect">
            <a:avLst>
              <a:gd name="adj" fmla="val 4500"/>
            </a:avLst>
          </a:prstGeom>
          <a:solidFill>
            <a:srgbClr val="F4F6FC"/>
          </a:solidFill>
          <a:ln/>
        </p:spPr>
      </p:sp>
      <p:sp>
        <p:nvSpPr>
          <p:cNvPr id="13" name="Shape 9"/>
          <p:cNvSpPr/>
          <p:nvPr/>
        </p:nvSpPr>
        <p:spPr>
          <a:xfrm>
            <a:off x="4562856" y="3017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tmp/cp9x_deck/icon_gri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498" y="3128162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62856" y="3611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ประเภทงาน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4562856" y="395020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= งานวางแผน PM ตามรอบ · Type C = งานซ่อม (Repair) นอกแผน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65008" y="2788920"/>
            <a:ext cx="3538728" cy="1828800"/>
          </a:xfrm>
          <a:prstGeom prst="roundRect">
            <a:avLst>
              <a:gd name="adj" fmla="val 4500"/>
            </a:avLst>
          </a:prstGeom>
          <a:solidFill>
            <a:srgbClr val="F4F6FC"/>
          </a:solidFill>
          <a:ln/>
        </p:spPr>
      </p:sp>
      <p:sp>
        <p:nvSpPr>
          <p:cNvPr id="18" name="Shape 13"/>
          <p:cNvSpPr/>
          <p:nvPr/>
        </p:nvSpPr>
        <p:spPr>
          <a:xfrm>
            <a:off x="8321040" y="3017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tmp/cp9x_deck/icon_downloa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1682" y="3128162"/>
            <a:ext cx="281635" cy="28163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21040" y="3611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ส่งออกรายงาน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321040" y="395020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ปุ่ม Export to Excel ดึงประวัติทั้งหมดตามตัวกรองที่เลือก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DF3E7"/>
          </a:solidFill>
          <a:ln/>
        </p:spPr>
      </p:sp>
      <p:sp>
        <p:nvSpPr>
          <p:cNvPr id="23" name="Shape 17"/>
          <p:cNvSpPr/>
          <p:nvPr/>
        </p:nvSpPr>
        <p:spPr>
          <a:xfrm>
            <a:off x="777240" y="512064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4" name="Image 4" descr="/tmp/cp9x_deck/icon_edi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882" y="5231282"/>
            <a:ext cx="281635" cy="28163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63040" y="489204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ทุกงานในประวัติกดดูรายละเอียด (View Details) เพื่อเช็กว่าใครเป็นผู้ปฏิบัติงาน และผลลัพธ์เป็นอย่างไร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คู่มือการใช้งานเชิงเทคนิค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474720"/>
            <a:ext cx="5943600" cy="5943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5367528" y="1097280"/>
            <a:ext cx="914400" cy="9144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" name="Image 0" descr="/tmp/cp9x_deck/icon_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3268" y="13030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2402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จบคู่มือ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ดูแลงานเปิด-ปิดซ่อมและวางบิล ส่วน CP9X-PM ดูแลกำหนดการบำรุงรักษาเชิงป้องกัน — ทำงานคู่กันบนฐานข้อมูลเดียว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926080" y="4114800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8" name="Image 1" descr="/tmp/cp9x_deck/icon_gitbran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421767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20440" y="4114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github.com/chollachat89/cp9x-desktop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926080" y="4754880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1" name="Image 2" descr="/tmp/cp9x_deck/icon_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0" y="485775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20440" y="4754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supabase.com/dashboard/project/hefnjozijflnhdunmewl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มีคู่มือเชิงลึกเรื่องระบบอัพเดตอัตโนมัติของ CP9X แยกต่างหาก (CP9X_คู่มือการใช้งาน.pptx)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2026-08-25T09:36:01Z</dcterms:created>
  <dcterms:modified xsi:type="dcterms:W3CDTF">2026-08-25T09:36:01Z</dcterms:modified>
</cp:coreProperties>
</file>